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Test-set performance</a:t>
            </a:r>
          </a:p>
        </c:rich>
      </c:tx>
      <c:layout/>
      <c:overlay val="0"/>
    </c:title>
    <c:autoTitleDeleted val="0"/>
    <c:plotArea>
      <c:layout/>
      <c:barChart>
        <c:barDir val="col"/>
        <c:grouping val="clustered"/>
        <c:varyColors val="0"/>
        <c:ser>
          <c:idx val="0"/>
          <c:order val="0"/>
          <c:tx>
            <c:strRef>
              <c:f>Sheet1!$B$1</c:f>
              <c:strCache>
                <c:ptCount val="1"/>
                <c:pt idx="0">
                  <c:v>Macro F1</c:v>
                </c:pt>
              </c:strCache>
            </c:strRef>
          </c:tx>
          <c:spPr>
            <a:solidFill>
              <a:srgbClr val="1D3557"/>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c:v>
                  </c:pt>
                  <c:pt idx="1">
                    <c:v>KNN</c:v>
                  </c:pt>
                  <c:pt idx="2">
                    <c:v>Random Forest</c:v>
                  </c:pt>
                  <c:pt idx="3">
                    <c:v>Gradient Boost.</c:v>
                  </c:pt>
                </c:lvl>
              </c:multiLvlStrCache>
            </c:multiLvlStrRef>
          </c:cat>
          <c:val>
            <c:numRef>
              <c:f>Sheet1!$B$2:$B$5</c:f>
              <c:numCache>
                <c:formatCode>General</c:formatCode>
                <c:ptCount val="4"/>
                <c:pt idx="0">
                  <c:v>0.779</c:v>
                </c:pt>
                <c:pt idx="1">
                  <c:v>0.85</c:v>
                </c:pt>
                <c:pt idx="2">
                  <c:v>0.899</c:v>
                </c:pt>
                <c:pt idx="3">
                  <c:v>0.91</c:v>
                </c:pt>
              </c:numCache>
            </c:numRef>
          </c:val>
        </c:ser>
        <c:ser>
          <c:idx val="1"/>
          <c:order val="1"/>
          <c:tx>
            <c:strRef>
              <c:f>Sheet1!$C$1</c:f>
              <c:strCache>
                <c:ptCount val="1"/>
                <c:pt idx="0">
                  <c:v>Pathological recall</c:v>
                </c:pt>
              </c:strCache>
            </c:strRef>
          </c:tx>
          <c:spPr>
            <a:solidFill>
              <a:srgbClr val="E76F51"/>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c:v>
                  </c:pt>
                  <c:pt idx="1">
                    <c:v>KNN</c:v>
                  </c:pt>
                  <c:pt idx="2">
                    <c:v>Random Forest</c:v>
                  </c:pt>
                  <c:pt idx="3">
                    <c:v>Gradient Boost.</c:v>
                  </c:pt>
                </c:lvl>
              </c:multiLvlStrCache>
            </c:multiLvlStrRef>
          </c:cat>
          <c:val>
            <c:numRef>
              <c:f>Sheet1!$C$2:$C$5</c:f>
              <c:numCache>
                <c:formatCode>General</c:formatCode>
                <c:ptCount val="4"/>
                <c:pt idx="0">
                  <c:v>0.8</c:v>
                </c:pt>
                <c:pt idx="1">
                  <c:v>0.914</c:v>
                </c:pt>
                <c:pt idx="2">
                  <c:v>0.971</c:v>
                </c:pt>
                <c:pt idx="3">
                  <c:v>0.971</c:v>
                </c:pt>
              </c:numCache>
            </c:numRef>
          </c:val>
        </c:ser>
        <c:ser>
          <c:idx val="2"/>
          <c:order val="2"/>
          <c:tx>
            <c:strRef>
              <c:f>Sheet1!$D$1</c:f>
              <c:strCache>
                <c:ptCount val="1"/>
                <c:pt idx="0">
                  <c:v>ROC-AUC</c:v>
                </c:pt>
              </c:strCache>
            </c:strRef>
          </c:tx>
          <c:spPr>
            <a:solidFill>
              <a:srgbClr val="2A9D8F"/>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c:v>
                  </c:pt>
                  <c:pt idx="1">
                    <c:v>KNN</c:v>
                  </c:pt>
                  <c:pt idx="2">
                    <c:v>Random Forest</c:v>
                  </c:pt>
                  <c:pt idx="3">
                    <c:v>Gradient Boost.</c:v>
                  </c:pt>
                </c:lvl>
              </c:multiLvlStrCache>
            </c:multiLvlStrRef>
          </c:cat>
          <c:val>
            <c:numRef>
              <c:f>Sheet1!$D$2:$D$5</c:f>
              <c:numCache>
                <c:formatCode>General</c:formatCode>
                <c:ptCount val="4"/>
                <c:pt idx="0">
                  <c:v>0.953</c:v>
                </c:pt>
                <c:pt idx="1">
                  <c:v>0.959</c:v>
                </c:pt>
                <c:pt idx="2">
                  <c:v>0.986</c:v>
                </c:pt>
                <c:pt idx="3">
                  <c:v>0.979</c:v>
                </c:pt>
              </c:numCache>
            </c:numRef>
          </c:val>
        </c:ser>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557"/>
        </a:solidFill>
      </p:bgPr>
    </p:bg>
    <p:spTree>
      <p:nvGrpSpPr>
        <p:cNvPr id="1" name=""/>
        <p:cNvGrpSpPr/>
        <p:nvPr/>
      </p:nvGrpSpPr>
      <p:grpSpPr>
        <a:xfrm>
          <a:off x="0" y="0"/>
          <a:ext cx="0" cy="0"/>
          <a:chOff x="0" y="0"/>
          <a:chExt cx="0" cy="0"/>
        </a:xfrm>
      </p:grpSpPr>
      <p:sp>
        <p:nvSpPr>
          <p:cNvPr id="2" name="Shape 0"/>
          <p:cNvSpPr/>
          <p:nvPr/>
        </p:nvSpPr>
        <p:spPr>
          <a:xfrm>
            <a:off x="548640" y="1874520"/>
            <a:ext cx="109728" cy="1371600"/>
          </a:xfrm>
          <a:prstGeom prst="rect">
            <a:avLst/>
          </a:prstGeom>
          <a:solidFill>
            <a:srgbClr val="2A9D8F"/>
          </a:solidFill>
          <a:ln/>
        </p:spPr>
      </p:sp>
      <p:sp>
        <p:nvSpPr>
          <p:cNvPr id="3" name="Text 1"/>
          <p:cNvSpPr txBox="1"/>
          <p:nvPr/>
        </p:nvSpPr>
        <p:spPr>
          <a:xfrm>
            <a:off x="868680" y="1737360"/>
            <a:ext cx="7772400" cy="9144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Predictive Models for Fetal Health</a:t>
            </a:r>
            <a:endParaRPr lang="en-US" sz="3800" dirty="0"/>
          </a:p>
        </p:txBody>
      </p:sp>
      <p:sp>
        <p:nvSpPr>
          <p:cNvPr id="4" name="Text 2"/>
          <p:cNvSpPr txBox="1"/>
          <p:nvPr/>
        </p:nvSpPr>
        <p:spPr>
          <a:xfrm>
            <a:off x="868680" y="2651760"/>
            <a:ext cx="7772400" cy="457200"/>
          </a:xfrm>
          <a:prstGeom prst="rect">
            <a:avLst/>
          </a:prstGeom>
          <a:noFill/>
          <a:ln/>
        </p:spPr>
        <p:txBody>
          <a:bodyPr wrap="square" lIns="0" tIns="0" rIns="0" bIns="0" rtlCol="0" anchor="ctr"/>
          <a:lstStyle/>
          <a:p>
            <a:pPr indent="0" marL="0">
              <a:buNone/>
            </a:pPr>
            <a:r>
              <a:rPr lang="en-US" sz="1800" dirty="0">
                <a:solidFill>
                  <a:srgbClr val="CFE3E0"/>
                </a:solidFill>
                <a:latin typeface="Calibri" pitchFamily="34" charset="0"/>
                <a:ea typeface="Calibri" pitchFamily="34" charset="-122"/>
                <a:cs typeface="Calibri" pitchFamily="34" charset="-120"/>
              </a:rPr>
              <a:t>Classifying CTG recordings as Normal, Suspect or Pathological</a:t>
            </a:r>
            <a:endParaRPr lang="en-US" sz="1800" dirty="0"/>
          </a:p>
        </p:txBody>
      </p:sp>
      <p:sp>
        <p:nvSpPr>
          <p:cNvPr id="5" name="Text 3"/>
          <p:cNvSpPr txBox="1"/>
          <p:nvPr/>
        </p:nvSpPr>
        <p:spPr>
          <a:xfrm>
            <a:off x="868680" y="4206240"/>
            <a:ext cx="7772400" cy="365760"/>
          </a:xfrm>
          <a:prstGeom prst="rect">
            <a:avLst/>
          </a:prstGeom>
          <a:noFill/>
          <a:ln/>
        </p:spPr>
        <p:txBody>
          <a:bodyPr wrap="square" lIns="0" tIns="0" rIns="0" bIns="0" rtlCol="0" anchor="ctr"/>
          <a:lstStyle/>
          <a:p>
            <a:pPr indent="0" marL="0">
              <a:buNone/>
            </a:pPr>
            <a:r>
              <a:rPr lang="en-US" sz="1300" dirty="0">
                <a:solidFill>
                  <a:srgbClr val="9FB6C8"/>
                </a:solidFill>
                <a:latin typeface="Calibri" pitchFamily="34" charset="0"/>
                <a:ea typeface="Calibri" pitchFamily="34" charset="-122"/>
                <a:cs typeface="Calibri" pitchFamily="34" charset="-120"/>
              </a:rPr>
              <a:t>DataLab Analytics Final Project  |  Sheriff Olalekan Ayoola  |  Supervisor: Oyeleke Olayemi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problem and our objective</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1</a:t>
            </a:r>
            <a:endParaRPr lang="en-US" sz="1000" dirty="0"/>
          </a:p>
        </p:txBody>
      </p:sp>
      <p:sp>
        <p:nvSpPr>
          <p:cNvPr id="5" name="Text 3"/>
          <p:cNvSpPr txBox="1"/>
          <p:nvPr/>
        </p:nvSpPr>
        <p:spPr>
          <a:xfrm>
            <a:off x="457200" y="1005840"/>
            <a:ext cx="475488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Preventable fetal and maternal deaths remain high in low-resource settings, often because distress is detected late.</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CTG devices are cheap, but reading them correctly needs trained staff who are scarce.</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Objective: build a model that classifies a CTG recording as Normal (1), Suspect (2) or Pathological (3) and deploy it as a simple web app returning probabilities.</a:t>
            </a:r>
            <a:endParaRPr lang="en-US" sz="1500" dirty="0"/>
          </a:p>
        </p:txBody>
      </p:sp>
      <p:sp>
        <p:nvSpPr>
          <p:cNvPr id="6" name="Text 4"/>
          <p:cNvSpPr txBox="1"/>
          <p:nvPr/>
        </p:nvSpPr>
        <p:spPr>
          <a:xfrm>
            <a:off x="5577840" y="1005840"/>
            <a:ext cx="3108960" cy="320040"/>
          </a:xfrm>
          <a:prstGeom prst="rect">
            <a:avLst/>
          </a:prstGeom>
          <a:noFill/>
          <a:ln/>
        </p:spPr>
        <p:txBody>
          <a:bodyPr wrap="square" lIns="0" tIns="0" rIns="0" bIns="0" rtlCol="0" anchor="ctr"/>
          <a:lstStyle/>
          <a:p>
            <a:pPr indent="0" marL="0">
              <a:buNone/>
            </a:pPr>
            <a:r>
              <a:rPr lang="en-US" sz="1600" b="1" dirty="0">
                <a:solidFill>
                  <a:srgbClr val="1D3557"/>
                </a:solidFill>
                <a:latin typeface="Calibri" pitchFamily="34" charset="0"/>
                <a:ea typeface="Calibri" pitchFamily="34" charset="-122"/>
                <a:cs typeface="Calibri" pitchFamily="34" charset="-120"/>
              </a:rPr>
              <a:t>Success metrics</a:t>
            </a:r>
            <a:endParaRPr lang="en-US" sz="1600" dirty="0"/>
          </a:p>
        </p:txBody>
      </p:sp>
      <p:sp>
        <p:nvSpPr>
          <p:cNvPr id="7" name="Shape 5"/>
          <p:cNvSpPr/>
          <p:nvPr/>
        </p:nvSpPr>
        <p:spPr>
          <a:xfrm>
            <a:off x="5577840" y="1417320"/>
            <a:ext cx="3108960" cy="658368"/>
          </a:xfrm>
          <a:prstGeom prst="rect">
            <a:avLst/>
          </a:prstGeom>
          <a:solidFill>
            <a:srgbClr val="F6F8F9"/>
          </a:solidFill>
          <a:ln w="12700">
            <a:solidFill>
              <a:srgbClr val="2A9D8F"/>
            </a:solidFill>
            <a:prstDash val="solid"/>
          </a:ln>
        </p:spPr>
      </p:sp>
      <p:sp>
        <p:nvSpPr>
          <p:cNvPr id="8" name="Text 6"/>
          <p:cNvSpPr txBox="1"/>
          <p:nvPr/>
        </p:nvSpPr>
        <p:spPr>
          <a:xfrm>
            <a:off x="5669280" y="1417320"/>
            <a:ext cx="2926080" cy="658368"/>
          </a:xfrm>
          <a:prstGeom prst="rect">
            <a:avLst/>
          </a:prstGeom>
          <a:noFill/>
          <a:ln/>
        </p:spPr>
        <p:txBody>
          <a:bodyPr wrap="square" lIns="0" tIns="0" rIns="0" bIns="0" rtlCol="0" anchor="ctr"/>
          <a:lstStyle/>
          <a:p>
            <a:pPr indent="0" marL="0">
              <a:buNone/>
            </a:pPr>
            <a:r>
              <a:rPr lang="en-US" sz="1300" b="1" dirty="0">
                <a:solidFill>
                  <a:srgbClr val="22303C"/>
                </a:solidFill>
                <a:latin typeface="Calibri" pitchFamily="34" charset="0"/>
                <a:ea typeface="Calibri" pitchFamily="34" charset="-122"/>
                <a:cs typeface="Calibri" pitchFamily="34" charset="-120"/>
              </a:rPr>
              <a:t>Recall (Pathological)</a:t>
            </a:r>
            <a:endParaRPr lang="en-US" sz="1300" dirty="0"/>
          </a:p>
          <a:p>
            <a:pPr indent="0" marL="0">
              <a:buNone/>
            </a:pPr>
            <a:r>
              <a:rPr lang="en-US" sz="1100" dirty="0">
                <a:solidFill>
                  <a:srgbClr val="5C6B77"/>
                </a:solidFill>
                <a:latin typeface="Calibri" pitchFamily="34" charset="0"/>
                <a:ea typeface="Calibri" pitchFamily="34" charset="-122"/>
                <a:cs typeface="Calibri" pitchFamily="34" charset="-120"/>
              </a:rPr>
              <a:t>Never miss a distressed fetus</a:t>
            </a:r>
            <a:endParaRPr lang="en-US" sz="1300" dirty="0"/>
          </a:p>
        </p:txBody>
      </p:sp>
      <p:sp>
        <p:nvSpPr>
          <p:cNvPr id="9" name="Shape 7"/>
          <p:cNvSpPr/>
          <p:nvPr/>
        </p:nvSpPr>
        <p:spPr>
          <a:xfrm>
            <a:off x="5577840" y="2194560"/>
            <a:ext cx="3108960" cy="658368"/>
          </a:xfrm>
          <a:prstGeom prst="rect">
            <a:avLst/>
          </a:prstGeom>
          <a:solidFill>
            <a:srgbClr val="F6F8F9"/>
          </a:solidFill>
          <a:ln w="12700">
            <a:solidFill>
              <a:srgbClr val="2A9D8F"/>
            </a:solidFill>
            <a:prstDash val="solid"/>
          </a:ln>
        </p:spPr>
      </p:sp>
      <p:sp>
        <p:nvSpPr>
          <p:cNvPr id="10" name="Text 8"/>
          <p:cNvSpPr txBox="1"/>
          <p:nvPr/>
        </p:nvSpPr>
        <p:spPr>
          <a:xfrm>
            <a:off x="5669280" y="2194560"/>
            <a:ext cx="2926080" cy="658368"/>
          </a:xfrm>
          <a:prstGeom prst="rect">
            <a:avLst/>
          </a:prstGeom>
          <a:noFill/>
          <a:ln/>
        </p:spPr>
        <p:txBody>
          <a:bodyPr wrap="square" lIns="0" tIns="0" rIns="0" bIns="0" rtlCol="0" anchor="ctr"/>
          <a:lstStyle/>
          <a:p>
            <a:pPr indent="0" marL="0">
              <a:buNone/>
            </a:pPr>
            <a:r>
              <a:rPr lang="en-US" sz="1300" b="1" dirty="0">
                <a:solidFill>
                  <a:srgbClr val="22303C"/>
                </a:solidFill>
                <a:latin typeface="Calibri" pitchFamily="34" charset="0"/>
                <a:ea typeface="Calibri" pitchFamily="34" charset="-122"/>
                <a:cs typeface="Calibri" pitchFamily="34" charset="-120"/>
              </a:rPr>
              <a:t>Macro F1-score</a:t>
            </a:r>
            <a:endParaRPr lang="en-US" sz="1300" dirty="0"/>
          </a:p>
          <a:p>
            <a:pPr indent="0" marL="0">
              <a:buNone/>
            </a:pPr>
            <a:r>
              <a:rPr lang="en-US" sz="1100" dirty="0">
                <a:solidFill>
                  <a:srgbClr val="5C6B77"/>
                </a:solidFill>
                <a:latin typeface="Calibri" pitchFamily="34" charset="0"/>
                <a:ea typeface="Calibri" pitchFamily="34" charset="-122"/>
                <a:cs typeface="Calibri" pitchFamily="34" charset="-120"/>
              </a:rPr>
              <a:t>Fair across all 3 classes</a:t>
            </a:r>
            <a:endParaRPr lang="en-US" sz="1300" dirty="0"/>
          </a:p>
        </p:txBody>
      </p:sp>
      <p:sp>
        <p:nvSpPr>
          <p:cNvPr id="11" name="Shape 9"/>
          <p:cNvSpPr/>
          <p:nvPr/>
        </p:nvSpPr>
        <p:spPr>
          <a:xfrm>
            <a:off x="5577840" y="2971800"/>
            <a:ext cx="3108960" cy="658368"/>
          </a:xfrm>
          <a:prstGeom prst="rect">
            <a:avLst/>
          </a:prstGeom>
          <a:solidFill>
            <a:srgbClr val="F6F8F9"/>
          </a:solidFill>
          <a:ln w="12700">
            <a:solidFill>
              <a:srgbClr val="2A9D8F"/>
            </a:solidFill>
            <a:prstDash val="solid"/>
          </a:ln>
        </p:spPr>
      </p:sp>
      <p:sp>
        <p:nvSpPr>
          <p:cNvPr id="12" name="Text 10"/>
          <p:cNvSpPr txBox="1"/>
          <p:nvPr/>
        </p:nvSpPr>
        <p:spPr>
          <a:xfrm>
            <a:off x="5669280" y="2971800"/>
            <a:ext cx="2926080" cy="658368"/>
          </a:xfrm>
          <a:prstGeom prst="rect">
            <a:avLst/>
          </a:prstGeom>
          <a:noFill/>
          <a:ln/>
        </p:spPr>
        <p:txBody>
          <a:bodyPr wrap="square" lIns="0" tIns="0" rIns="0" bIns="0" rtlCol="0" anchor="ctr"/>
          <a:lstStyle/>
          <a:p>
            <a:pPr indent="0" marL="0">
              <a:buNone/>
            </a:pPr>
            <a:r>
              <a:rPr lang="en-US" sz="1300" b="1" dirty="0">
                <a:solidFill>
                  <a:srgbClr val="22303C"/>
                </a:solidFill>
                <a:latin typeface="Calibri" pitchFamily="34" charset="0"/>
                <a:ea typeface="Calibri" pitchFamily="34" charset="-122"/>
                <a:cs typeface="Calibri" pitchFamily="34" charset="-120"/>
              </a:rPr>
              <a:t>Macro precision</a:t>
            </a:r>
            <a:endParaRPr lang="en-US" sz="1300" dirty="0"/>
          </a:p>
          <a:p>
            <a:pPr indent="0" marL="0">
              <a:buNone/>
            </a:pPr>
            <a:r>
              <a:rPr lang="en-US" sz="1100" dirty="0">
                <a:solidFill>
                  <a:srgbClr val="5C6B77"/>
                </a:solidFill>
                <a:latin typeface="Calibri" pitchFamily="34" charset="0"/>
                <a:ea typeface="Calibri" pitchFamily="34" charset="-122"/>
                <a:cs typeface="Calibri" pitchFamily="34" charset="-120"/>
              </a:rPr>
              <a:t>Limit false alarms</a:t>
            </a:r>
            <a:endParaRPr lang="en-US" sz="1300" dirty="0"/>
          </a:p>
        </p:txBody>
      </p:sp>
      <p:sp>
        <p:nvSpPr>
          <p:cNvPr id="13" name="Shape 11"/>
          <p:cNvSpPr/>
          <p:nvPr/>
        </p:nvSpPr>
        <p:spPr>
          <a:xfrm>
            <a:off x="5577840" y="3749040"/>
            <a:ext cx="3108960" cy="658368"/>
          </a:xfrm>
          <a:prstGeom prst="rect">
            <a:avLst/>
          </a:prstGeom>
          <a:solidFill>
            <a:srgbClr val="F6F8F9"/>
          </a:solidFill>
          <a:ln w="12700">
            <a:solidFill>
              <a:srgbClr val="2A9D8F"/>
            </a:solidFill>
            <a:prstDash val="solid"/>
          </a:ln>
        </p:spPr>
      </p:sp>
      <p:sp>
        <p:nvSpPr>
          <p:cNvPr id="14" name="Text 12"/>
          <p:cNvSpPr txBox="1"/>
          <p:nvPr/>
        </p:nvSpPr>
        <p:spPr>
          <a:xfrm>
            <a:off x="5669280" y="3749040"/>
            <a:ext cx="2926080" cy="658368"/>
          </a:xfrm>
          <a:prstGeom prst="rect">
            <a:avLst/>
          </a:prstGeom>
          <a:noFill/>
          <a:ln/>
        </p:spPr>
        <p:txBody>
          <a:bodyPr wrap="square" lIns="0" tIns="0" rIns="0" bIns="0" rtlCol="0" anchor="ctr"/>
          <a:lstStyle/>
          <a:p>
            <a:pPr indent="0" marL="0">
              <a:buNone/>
            </a:pPr>
            <a:r>
              <a:rPr lang="en-US" sz="1300" b="1" dirty="0">
                <a:solidFill>
                  <a:srgbClr val="22303C"/>
                </a:solidFill>
                <a:latin typeface="Calibri" pitchFamily="34" charset="0"/>
                <a:ea typeface="Calibri" pitchFamily="34" charset="-122"/>
                <a:cs typeface="Calibri" pitchFamily="34" charset="-120"/>
              </a:rPr>
              <a:t>ROC-AUC (one-vs-rest)</a:t>
            </a:r>
            <a:endParaRPr lang="en-US" sz="1300" dirty="0"/>
          </a:p>
          <a:p>
            <a:pPr indent="0" marL="0">
              <a:buNone/>
            </a:pPr>
            <a:r>
              <a:rPr lang="en-US" sz="1100" dirty="0">
                <a:solidFill>
                  <a:srgbClr val="5C6B77"/>
                </a:solidFill>
                <a:latin typeface="Calibri" pitchFamily="34" charset="0"/>
                <a:ea typeface="Calibri" pitchFamily="34" charset="-122"/>
                <a:cs typeface="Calibri" pitchFamily="34" charset="-120"/>
              </a:rPr>
              <a:t>Class separation quality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 preparation: a clean, leak-free pipeline</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457200" y="1005840"/>
            <a:ext cx="1938528" cy="1234440"/>
          </a:xfrm>
          <a:prstGeom prst="rect">
            <a:avLst/>
          </a:prstGeom>
          <a:solidFill>
            <a:srgbClr val="F6F8F9"/>
          </a:solidFill>
          <a:ln w="12700">
            <a:solidFill>
              <a:srgbClr val="2A9D8F"/>
            </a:solidFill>
            <a:prstDash val="solid"/>
          </a:ln>
        </p:spPr>
      </p:sp>
      <p:sp>
        <p:nvSpPr>
          <p:cNvPr id="6" name="Text 4"/>
          <p:cNvSpPr txBox="1"/>
          <p:nvPr/>
        </p:nvSpPr>
        <p:spPr>
          <a:xfrm>
            <a:off x="457200" y="1051560"/>
            <a:ext cx="1938528" cy="640080"/>
          </a:xfrm>
          <a:prstGeom prst="rect">
            <a:avLst/>
          </a:prstGeom>
          <a:noFill/>
          <a:ln/>
        </p:spPr>
        <p:txBody>
          <a:bodyPr wrap="square" lIns="0" tIns="0" rIns="0" bIns="0" rtlCol="0" anchor="ctr"/>
          <a:lstStyle/>
          <a:p>
            <a:pPr algn="ctr" indent="0" marL="0">
              <a:buNone/>
            </a:pPr>
            <a:r>
              <a:rPr lang="en-US" sz="3000" b="1" dirty="0">
                <a:solidFill>
                  <a:srgbClr val="2A9D8F"/>
                </a:solidFill>
                <a:latin typeface="Calibri" pitchFamily="34" charset="0"/>
                <a:ea typeface="Calibri" pitchFamily="34" charset="-122"/>
                <a:cs typeface="Calibri" pitchFamily="34" charset="-120"/>
              </a:rPr>
              <a:t>2,126</a:t>
            </a:r>
            <a:endParaRPr lang="en-US" sz="3000" dirty="0"/>
          </a:p>
        </p:txBody>
      </p:sp>
      <p:sp>
        <p:nvSpPr>
          <p:cNvPr id="7" name="Text 5"/>
          <p:cNvSpPr txBox="1"/>
          <p:nvPr/>
        </p:nvSpPr>
        <p:spPr>
          <a:xfrm>
            <a:off x="548640" y="1645920"/>
            <a:ext cx="1755648" cy="548640"/>
          </a:xfrm>
          <a:prstGeom prst="rect">
            <a:avLst/>
          </a:prstGeom>
          <a:noFill/>
          <a:ln/>
        </p:spPr>
        <p:txBody>
          <a:bodyPr wrap="square" lIns="0" tIns="0" rIns="0" bIns="0" rtlCol="0" anchor="t"/>
          <a:lstStyle/>
          <a:p>
            <a:pPr algn="ctr" indent="0" marL="0">
              <a:buNone/>
            </a:pPr>
            <a:r>
              <a:rPr lang="en-US" sz="1100" dirty="0">
                <a:solidFill>
                  <a:srgbClr val="22303C"/>
                </a:solidFill>
                <a:latin typeface="Calibri" pitchFamily="34" charset="0"/>
                <a:ea typeface="Calibri" pitchFamily="34" charset="-122"/>
                <a:cs typeface="Calibri" pitchFamily="34" charset="-120"/>
              </a:rPr>
              <a:t>recordings, 21 CTG features + target</a:t>
            </a:r>
            <a:endParaRPr lang="en-US" sz="1100" dirty="0"/>
          </a:p>
        </p:txBody>
      </p:sp>
      <p:sp>
        <p:nvSpPr>
          <p:cNvPr id="8" name="Shape 6"/>
          <p:cNvSpPr/>
          <p:nvPr/>
        </p:nvSpPr>
        <p:spPr>
          <a:xfrm>
            <a:off x="2578608" y="1005840"/>
            <a:ext cx="1938528" cy="1234440"/>
          </a:xfrm>
          <a:prstGeom prst="rect">
            <a:avLst/>
          </a:prstGeom>
          <a:solidFill>
            <a:srgbClr val="F6F8F9"/>
          </a:solidFill>
          <a:ln w="12700">
            <a:solidFill>
              <a:srgbClr val="2A9D8F"/>
            </a:solidFill>
            <a:prstDash val="solid"/>
          </a:ln>
        </p:spPr>
      </p:sp>
      <p:sp>
        <p:nvSpPr>
          <p:cNvPr id="9" name="Text 7"/>
          <p:cNvSpPr txBox="1"/>
          <p:nvPr/>
        </p:nvSpPr>
        <p:spPr>
          <a:xfrm>
            <a:off x="2578608" y="1051560"/>
            <a:ext cx="1938528" cy="640080"/>
          </a:xfrm>
          <a:prstGeom prst="rect">
            <a:avLst/>
          </a:prstGeom>
          <a:noFill/>
          <a:ln/>
        </p:spPr>
        <p:txBody>
          <a:bodyPr wrap="square" lIns="0" tIns="0" rIns="0" bIns="0" rtlCol="0" anchor="ctr"/>
          <a:lstStyle/>
          <a:p>
            <a:pPr algn="ctr" indent="0" marL="0">
              <a:buNone/>
            </a:pPr>
            <a:r>
              <a:rPr lang="en-US" sz="3000" b="1" dirty="0">
                <a:solidFill>
                  <a:srgbClr val="2A9D8F"/>
                </a:solidFill>
                <a:latin typeface="Calibri" pitchFamily="34" charset="0"/>
                <a:ea typeface="Calibri" pitchFamily="34" charset="-122"/>
                <a:cs typeface="Calibri" pitchFamily="34" charset="-120"/>
              </a:rPr>
              <a:t>0</a:t>
            </a:r>
            <a:endParaRPr lang="en-US" sz="3000" dirty="0"/>
          </a:p>
        </p:txBody>
      </p:sp>
      <p:sp>
        <p:nvSpPr>
          <p:cNvPr id="10" name="Text 8"/>
          <p:cNvSpPr txBox="1"/>
          <p:nvPr/>
        </p:nvSpPr>
        <p:spPr>
          <a:xfrm>
            <a:off x="2670048" y="1645920"/>
            <a:ext cx="1755648" cy="548640"/>
          </a:xfrm>
          <a:prstGeom prst="rect">
            <a:avLst/>
          </a:prstGeom>
          <a:noFill/>
          <a:ln/>
        </p:spPr>
        <p:txBody>
          <a:bodyPr wrap="square" lIns="0" tIns="0" rIns="0" bIns="0" rtlCol="0" anchor="t"/>
          <a:lstStyle/>
          <a:p>
            <a:pPr algn="ctr" indent="0" marL="0">
              <a:buNone/>
            </a:pPr>
            <a:r>
              <a:rPr lang="en-US" sz="1100" dirty="0">
                <a:solidFill>
                  <a:srgbClr val="22303C"/>
                </a:solidFill>
                <a:latin typeface="Calibri" pitchFamily="34" charset="0"/>
                <a:ea typeface="Calibri" pitchFamily="34" charset="-122"/>
                <a:cs typeface="Calibri" pitchFamily="34" charset="-120"/>
              </a:rPr>
              <a:t>missing values, all numeric</a:t>
            </a:r>
            <a:endParaRPr lang="en-US" sz="1100" dirty="0"/>
          </a:p>
        </p:txBody>
      </p:sp>
      <p:sp>
        <p:nvSpPr>
          <p:cNvPr id="11" name="Shape 9"/>
          <p:cNvSpPr/>
          <p:nvPr/>
        </p:nvSpPr>
        <p:spPr>
          <a:xfrm>
            <a:off x="4700016" y="1005840"/>
            <a:ext cx="1938528" cy="1234440"/>
          </a:xfrm>
          <a:prstGeom prst="rect">
            <a:avLst/>
          </a:prstGeom>
          <a:solidFill>
            <a:srgbClr val="F6F8F9"/>
          </a:solidFill>
          <a:ln w="12700">
            <a:solidFill>
              <a:srgbClr val="2A9D8F"/>
            </a:solidFill>
            <a:prstDash val="solid"/>
          </a:ln>
        </p:spPr>
      </p:sp>
      <p:sp>
        <p:nvSpPr>
          <p:cNvPr id="12" name="Text 10"/>
          <p:cNvSpPr txBox="1"/>
          <p:nvPr/>
        </p:nvSpPr>
        <p:spPr>
          <a:xfrm>
            <a:off x="4700016" y="1051560"/>
            <a:ext cx="1938528" cy="640080"/>
          </a:xfrm>
          <a:prstGeom prst="rect">
            <a:avLst/>
          </a:prstGeom>
          <a:noFill/>
          <a:ln/>
        </p:spPr>
        <p:txBody>
          <a:bodyPr wrap="square" lIns="0" tIns="0" rIns="0" bIns="0" rtlCol="0" anchor="ctr"/>
          <a:lstStyle/>
          <a:p>
            <a:pPr algn="ctr" indent="0" marL="0">
              <a:buNone/>
            </a:pPr>
            <a:r>
              <a:rPr lang="en-US" sz="3000" b="1" dirty="0">
                <a:solidFill>
                  <a:srgbClr val="2A9D8F"/>
                </a:solidFill>
                <a:latin typeface="Calibri" pitchFamily="34" charset="0"/>
                <a:ea typeface="Calibri" pitchFamily="34" charset="-122"/>
                <a:cs typeface="Calibri" pitchFamily="34" charset="-120"/>
              </a:rPr>
              <a:t>13</a:t>
            </a:r>
            <a:endParaRPr lang="en-US" sz="3000" dirty="0"/>
          </a:p>
        </p:txBody>
      </p:sp>
      <p:sp>
        <p:nvSpPr>
          <p:cNvPr id="13" name="Text 11"/>
          <p:cNvSpPr txBox="1"/>
          <p:nvPr/>
        </p:nvSpPr>
        <p:spPr>
          <a:xfrm>
            <a:off x="4791456" y="1645920"/>
            <a:ext cx="1755648" cy="548640"/>
          </a:xfrm>
          <a:prstGeom prst="rect">
            <a:avLst/>
          </a:prstGeom>
          <a:noFill/>
          <a:ln/>
        </p:spPr>
        <p:txBody>
          <a:bodyPr wrap="square" lIns="0" tIns="0" rIns="0" bIns="0" rtlCol="0" anchor="t"/>
          <a:lstStyle/>
          <a:p>
            <a:pPr algn="ctr" indent="0" marL="0">
              <a:buNone/>
            </a:pPr>
            <a:r>
              <a:rPr lang="en-US" sz="1100" dirty="0">
                <a:solidFill>
                  <a:srgbClr val="22303C"/>
                </a:solidFill>
                <a:latin typeface="Calibri" pitchFamily="34" charset="0"/>
                <a:ea typeface="Calibri" pitchFamily="34" charset="-122"/>
                <a:cs typeface="Calibri" pitchFamily="34" charset="-120"/>
              </a:rPr>
              <a:t>duplicates removed</a:t>
            </a:r>
            <a:endParaRPr lang="en-US" sz="1100" dirty="0"/>
          </a:p>
        </p:txBody>
      </p:sp>
      <p:sp>
        <p:nvSpPr>
          <p:cNvPr id="14" name="Shape 12"/>
          <p:cNvSpPr/>
          <p:nvPr/>
        </p:nvSpPr>
        <p:spPr>
          <a:xfrm>
            <a:off x="6821424" y="1005840"/>
            <a:ext cx="1938528" cy="1234440"/>
          </a:xfrm>
          <a:prstGeom prst="rect">
            <a:avLst/>
          </a:prstGeom>
          <a:solidFill>
            <a:srgbClr val="F6F8F9"/>
          </a:solidFill>
          <a:ln w="12700">
            <a:solidFill>
              <a:srgbClr val="2A9D8F"/>
            </a:solidFill>
            <a:prstDash val="solid"/>
          </a:ln>
        </p:spPr>
      </p:sp>
      <p:sp>
        <p:nvSpPr>
          <p:cNvPr id="15" name="Text 13"/>
          <p:cNvSpPr txBox="1"/>
          <p:nvPr/>
        </p:nvSpPr>
        <p:spPr>
          <a:xfrm>
            <a:off x="6821424" y="1051560"/>
            <a:ext cx="1938528" cy="640080"/>
          </a:xfrm>
          <a:prstGeom prst="rect">
            <a:avLst/>
          </a:prstGeom>
          <a:noFill/>
          <a:ln/>
        </p:spPr>
        <p:txBody>
          <a:bodyPr wrap="square" lIns="0" tIns="0" rIns="0" bIns="0" rtlCol="0" anchor="ctr"/>
          <a:lstStyle/>
          <a:p>
            <a:pPr algn="ctr" indent="0" marL="0">
              <a:buNone/>
            </a:pPr>
            <a:r>
              <a:rPr lang="en-US" sz="3000" b="1" dirty="0">
                <a:solidFill>
                  <a:srgbClr val="2A9D8F"/>
                </a:solidFill>
                <a:latin typeface="Calibri" pitchFamily="34" charset="0"/>
                <a:ea typeface="Calibri" pitchFamily="34" charset="-122"/>
                <a:cs typeface="Calibri" pitchFamily="34" charset="-120"/>
              </a:rPr>
              <a:t>80/20</a:t>
            </a:r>
            <a:endParaRPr lang="en-US" sz="3000" dirty="0"/>
          </a:p>
        </p:txBody>
      </p:sp>
      <p:sp>
        <p:nvSpPr>
          <p:cNvPr id="16" name="Text 14"/>
          <p:cNvSpPr txBox="1"/>
          <p:nvPr/>
        </p:nvSpPr>
        <p:spPr>
          <a:xfrm>
            <a:off x="6912864" y="1645920"/>
            <a:ext cx="1755648" cy="548640"/>
          </a:xfrm>
          <a:prstGeom prst="rect">
            <a:avLst/>
          </a:prstGeom>
          <a:noFill/>
          <a:ln/>
        </p:spPr>
        <p:txBody>
          <a:bodyPr wrap="square" lIns="0" tIns="0" rIns="0" bIns="0" rtlCol="0" anchor="t"/>
          <a:lstStyle/>
          <a:p>
            <a:pPr algn="ctr" indent="0" marL="0">
              <a:buNone/>
            </a:pPr>
            <a:r>
              <a:rPr lang="en-US" sz="1100" dirty="0">
                <a:solidFill>
                  <a:srgbClr val="22303C"/>
                </a:solidFill>
                <a:latin typeface="Calibri" pitchFamily="34" charset="0"/>
                <a:ea typeface="Calibri" pitchFamily="34" charset="-122"/>
                <a:cs typeface="Calibri" pitchFamily="34" charset="-120"/>
              </a:rPr>
              <a:t>stratified split before any fitting</a:t>
            </a:r>
            <a:endParaRPr lang="en-US" sz="1100" dirty="0"/>
          </a:p>
        </p:txBody>
      </p:sp>
      <p:sp>
        <p:nvSpPr>
          <p:cNvPr id="17" name="Text 15"/>
          <p:cNvSpPr txBox="1"/>
          <p:nvPr/>
        </p:nvSpPr>
        <p:spPr>
          <a:xfrm>
            <a:off x="457200" y="2514600"/>
            <a:ext cx="8229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Negative values appear only in histogram_tendency (-1/0/1 codes), so they are valid and kept.</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No categorical predictors, so no encoding needed; the target is already numeric.</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Outliers detected with the IQR rule; continuous features winsorised at the 0.5/99.5 percentile using training data only. Sparse event counts left untouched.</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Scaler, SMOTE and feature selection are all fitted on the training set only, so no information leaks from the test set.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target is imbalanced</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3</a:t>
            </a:r>
            <a:endParaRPr lang="en-US" sz="1000" dirty="0"/>
          </a:p>
        </p:txBody>
      </p:sp>
      <p:pic>
        <p:nvPicPr>
          <p:cNvPr id="5" name="Image 0" descr="deliver/figs/01_target_distribution.png">    </p:cNvPr>
          <p:cNvPicPr>
            <a:picLocks noChangeAspect="1"/>
          </p:cNvPicPr>
          <p:nvPr/>
        </p:nvPicPr>
        <p:blipFill>
          <a:blip r:embed="rId1"/>
          <a:stretch>
            <a:fillRect/>
          </a:stretch>
        </p:blipFill>
        <p:spPr>
          <a:xfrm>
            <a:off x="365760" y="1791393"/>
            <a:ext cx="5486400" cy="1995055"/>
          </a:xfrm>
          <a:prstGeom prst="rect">
            <a:avLst/>
          </a:prstGeom>
        </p:spPr>
      </p:pic>
      <p:sp>
        <p:nvSpPr>
          <p:cNvPr id="6" name="Shape 3"/>
          <p:cNvSpPr/>
          <p:nvPr/>
        </p:nvSpPr>
        <p:spPr>
          <a:xfrm>
            <a:off x="6035040" y="1188720"/>
            <a:ext cx="2743200" cy="3108960"/>
          </a:xfrm>
          <a:prstGeom prst="rect">
            <a:avLst/>
          </a:prstGeom>
          <a:solidFill>
            <a:srgbClr val="F6F8F9"/>
          </a:solidFill>
          <a:ln w="19050">
            <a:solidFill>
              <a:srgbClr val="2A9D8F"/>
            </a:solidFill>
            <a:prstDash val="solid"/>
          </a:ln>
        </p:spPr>
      </p:sp>
      <p:sp>
        <p:nvSpPr>
          <p:cNvPr id="7" name="Shape 4"/>
          <p:cNvSpPr/>
          <p:nvPr/>
        </p:nvSpPr>
        <p:spPr>
          <a:xfrm>
            <a:off x="6035040" y="1188720"/>
            <a:ext cx="73152" cy="3108960"/>
          </a:xfrm>
          <a:prstGeom prst="rect">
            <a:avLst/>
          </a:prstGeom>
          <a:solidFill>
            <a:srgbClr val="2A9D8F"/>
          </a:solidFill>
          <a:ln/>
        </p:spPr>
      </p:sp>
      <p:sp>
        <p:nvSpPr>
          <p:cNvPr id="8" name="Text 5"/>
          <p:cNvSpPr txBox="1"/>
          <p:nvPr/>
        </p:nvSpPr>
        <p:spPr>
          <a:xfrm>
            <a:off x="6217920" y="1234440"/>
            <a:ext cx="2468880" cy="3017520"/>
          </a:xfrm>
          <a:prstGeom prst="rect">
            <a:avLst/>
          </a:prstGeom>
          <a:noFill/>
          <a:ln/>
        </p:spPr>
        <p:txBody>
          <a:bodyPr wrap="square" lIns="0" tIns="0" rIns="0" bIns="0" rtlCol="0" anchor="ctr"/>
          <a:lstStyle/>
          <a:p>
            <a:pPr indent="0" marL="0">
              <a:buNone/>
            </a:pPr>
            <a:r>
              <a:rPr lang="en-US" sz="1300" dirty="0">
                <a:solidFill>
                  <a:srgbClr val="22303C"/>
                </a:solidFill>
                <a:latin typeface="Calibri" pitchFamily="34" charset="0"/>
                <a:ea typeface="Calibri" pitchFamily="34" charset="-122"/>
                <a:cs typeface="Calibri" pitchFamily="34" charset="-120"/>
              </a:rPr>
              <a:t>About 78% Normal, 14% Suspect, 8% Pathological. A model that always says "Normal" would score ~78% accuracy yet miss every at-risk fetus. We therefore judge models on recall, macro-F1 and AUC, and balance the training set with SMOTE.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Abnormal patterns separate the classes</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4</a:t>
            </a:r>
            <a:endParaRPr lang="en-US" sz="1000" dirty="0"/>
          </a:p>
        </p:txBody>
      </p:sp>
      <p:pic>
        <p:nvPicPr>
          <p:cNvPr id="5" name="Image 0" descr="deliver/figs/02_key_features_by_class.png">    </p:cNvPr>
          <p:cNvPicPr>
            <a:picLocks noChangeAspect="1"/>
          </p:cNvPicPr>
          <p:nvPr/>
        </p:nvPicPr>
        <p:blipFill>
          <a:blip r:embed="rId1"/>
          <a:stretch>
            <a:fillRect/>
          </a:stretch>
        </p:blipFill>
        <p:spPr>
          <a:xfrm>
            <a:off x="274320" y="1252728"/>
            <a:ext cx="5760720" cy="3072384"/>
          </a:xfrm>
          <a:prstGeom prst="rect">
            <a:avLst/>
          </a:prstGeom>
        </p:spPr>
      </p:pic>
      <p:sp>
        <p:nvSpPr>
          <p:cNvPr id="6" name="Text 3"/>
          <p:cNvSpPr txBox="1"/>
          <p:nvPr/>
        </p:nvSpPr>
        <p:spPr>
          <a:xfrm>
            <a:off x="6172200" y="1097280"/>
            <a:ext cx="2651760" cy="34747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Abnormal short-term variability: ~43% in Normal vs ~62-65% in Suspect/Pathological.</a:t>
            </a:r>
            <a:endParaRPr lang="en-US" sz="1300" dirty="0"/>
          </a:p>
          <a:p>
            <a:pPr marL="342900" indent="-342900">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Accelerations present in ~70% of Normal recordings but only ~16-17% of the others.</a:t>
            </a:r>
            <a:endParaRPr lang="en-US" sz="1300" dirty="0"/>
          </a:p>
          <a:p>
            <a:pPr marL="342900" indent="-342900">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Prolonged decelerations occur in ~54% of Pathological cases vs ~4-5% of the rest.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Which signals relate to fetal health?</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5</a:t>
            </a:r>
            <a:endParaRPr lang="en-US" sz="1000" dirty="0"/>
          </a:p>
        </p:txBody>
      </p:sp>
      <p:pic>
        <p:nvPicPr>
          <p:cNvPr id="5" name="Image 0" descr="deliver/figs/03_corr_with_target.png">    </p:cNvPr>
          <p:cNvPicPr>
            <a:picLocks noChangeAspect="1"/>
          </p:cNvPicPr>
          <p:nvPr/>
        </p:nvPicPr>
        <p:blipFill>
          <a:blip r:embed="rId1"/>
          <a:stretch>
            <a:fillRect/>
          </a:stretch>
        </p:blipFill>
        <p:spPr>
          <a:xfrm>
            <a:off x="274320" y="971550"/>
            <a:ext cx="4206240" cy="3680460"/>
          </a:xfrm>
          <a:prstGeom prst="rect">
            <a:avLst/>
          </a:prstGeom>
        </p:spPr>
      </p:pic>
      <p:pic>
        <p:nvPicPr>
          <p:cNvPr id="6" name="Image 1" descr="deliver/figs/04_correlation_heatmap.png">    </p:cNvPr>
          <p:cNvPicPr>
            <a:picLocks noChangeAspect="1"/>
          </p:cNvPicPr>
          <p:nvPr/>
        </p:nvPicPr>
        <p:blipFill>
          <a:blip r:embed="rId2"/>
          <a:stretch>
            <a:fillRect/>
          </a:stretch>
        </p:blipFill>
        <p:spPr>
          <a:xfrm>
            <a:off x="4937760" y="868680"/>
            <a:ext cx="3566160" cy="2743200"/>
          </a:xfrm>
          <a:prstGeom prst="rect">
            <a:avLst/>
          </a:prstGeom>
        </p:spPr>
      </p:pic>
      <p:sp>
        <p:nvSpPr>
          <p:cNvPr id="7" name="Shape 3"/>
          <p:cNvSpPr/>
          <p:nvPr/>
        </p:nvSpPr>
        <p:spPr>
          <a:xfrm>
            <a:off x="4572000" y="3703320"/>
            <a:ext cx="4297680" cy="1051560"/>
          </a:xfrm>
          <a:prstGeom prst="rect">
            <a:avLst/>
          </a:prstGeom>
          <a:solidFill>
            <a:srgbClr val="F6F8F9"/>
          </a:solidFill>
          <a:ln w="19050">
            <a:solidFill>
              <a:srgbClr val="2A9D8F"/>
            </a:solidFill>
            <a:prstDash val="solid"/>
          </a:ln>
        </p:spPr>
      </p:sp>
      <p:sp>
        <p:nvSpPr>
          <p:cNvPr id="8" name="Shape 4"/>
          <p:cNvSpPr/>
          <p:nvPr/>
        </p:nvSpPr>
        <p:spPr>
          <a:xfrm>
            <a:off x="4572000" y="3703320"/>
            <a:ext cx="73152" cy="1051560"/>
          </a:xfrm>
          <a:prstGeom prst="rect">
            <a:avLst/>
          </a:prstGeom>
          <a:solidFill>
            <a:srgbClr val="2A9D8F"/>
          </a:solidFill>
          <a:ln/>
        </p:spPr>
      </p:sp>
      <p:sp>
        <p:nvSpPr>
          <p:cNvPr id="9" name="Text 5"/>
          <p:cNvSpPr txBox="1"/>
          <p:nvPr/>
        </p:nvSpPr>
        <p:spPr>
          <a:xfrm>
            <a:off x="4754880" y="3749040"/>
            <a:ext cx="4023360" cy="960120"/>
          </a:xfrm>
          <a:prstGeom prst="rect">
            <a:avLst/>
          </a:prstGeom>
          <a:noFill/>
          <a:ln/>
        </p:spPr>
        <p:txBody>
          <a:bodyPr wrap="square" lIns="0" tIns="0" rIns="0" bIns="0" rtlCol="0" anchor="ctr"/>
          <a:lstStyle/>
          <a:p>
            <a:pPr indent="0" marL="0">
              <a:buNone/>
            </a:pPr>
            <a:r>
              <a:rPr lang="en-US" sz="1300" dirty="0">
                <a:solidFill>
                  <a:srgbClr val="22303C"/>
                </a:solidFill>
                <a:latin typeface="Calibri" pitchFamily="34" charset="0"/>
                <a:ea typeface="Calibri" pitchFamily="34" charset="-122"/>
                <a:cs typeface="Calibri" pitchFamily="34" charset="-120"/>
              </a:rPr>
              <a:t>Strongest links with worse outcomes: prolonged decelerations (0.49), abnormal short-term variability (0.47) and abnormal long-term variability (0.42). Histogram mean/median/mode are highly redundant (r up to 0.95).</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Scaling, SMOTE and feature selection</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6</a:t>
            </a:r>
            <a:endParaRPr lang="en-US" sz="1000" dirty="0"/>
          </a:p>
        </p:txBody>
      </p:sp>
      <p:pic>
        <p:nvPicPr>
          <p:cNvPr id="5" name="Image 0" descr="deliver/figs/06_smote.png">    </p:cNvPr>
          <p:cNvPicPr>
            <a:picLocks noChangeAspect="1"/>
          </p:cNvPicPr>
          <p:nvPr/>
        </p:nvPicPr>
        <p:blipFill>
          <a:blip r:embed="rId1"/>
          <a:stretch>
            <a:fillRect/>
          </a:stretch>
        </p:blipFill>
        <p:spPr>
          <a:xfrm>
            <a:off x="274320" y="1010920"/>
            <a:ext cx="4206240" cy="1635760"/>
          </a:xfrm>
          <a:prstGeom prst="rect">
            <a:avLst/>
          </a:prstGeom>
        </p:spPr>
      </p:pic>
      <p:pic>
        <p:nvPicPr>
          <p:cNvPr id="6" name="Image 1" descr="deliver/figs/07_feature_selection.png">    </p:cNvPr>
          <p:cNvPicPr>
            <a:picLocks noChangeAspect="1"/>
          </p:cNvPicPr>
          <p:nvPr/>
        </p:nvPicPr>
        <p:blipFill>
          <a:blip r:embed="rId2"/>
          <a:stretch>
            <a:fillRect/>
          </a:stretch>
        </p:blipFill>
        <p:spPr>
          <a:xfrm>
            <a:off x="4572000" y="908685"/>
            <a:ext cx="4297680" cy="3760470"/>
          </a:xfrm>
          <a:prstGeom prst="rect">
            <a:avLst/>
          </a:prstGeom>
        </p:spPr>
      </p:pic>
      <p:sp>
        <p:nvSpPr>
          <p:cNvPr id="7" name="Text 3"/>
          <p:cNvSpPr txBox="1"/>
          <p:nvPr/>
        </p:nvSpPr>
        <p:spPr>
          <a:xfrm>
            <a:off x="365760" y="2926080"/>
            <a:ext cx="411480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StandardScaler fitted on train only, then applied to test.</a:t>
            </a:r>
            <a:endParaRPr lang="en-US" sz="1200" dirty="0"/>
          </a:p>
          <a:p>
            <a:pPr marL="342900" indent="-342900">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SMOTE on scaled train only: 1316 / 234 / 140 became 1316 / 1316 / 1316. Test set left untouched.</a:t>
            </a:r>
            <a:endParaRPr lang="en-US" sz="1200" dirty="0"/>
          </a:p>
          <a:p>
            <a:pPr marL="342900" indent="-342900">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Random Forest importance plus domain knowledge kept 10 of 21 features and dropped the redundant histogram_median.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Four models compared on unseen test data</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7</a:t>
            </a:r>
            <a:endParaRPr lang="en-US" sz="1000" dirty="0"/>
          </a:p>
        </p:txBody>
      </p:sp>
      <p:graphicFrame>
        <p:nvGraphicFramePr>
          <p:cNvPr id="5" name="Chart 0" descr=""/>
          <p:cNvGraphicFramePr/>
          <p:nvPr/>
        </p:nvGraphicFramePr>
        <p:xfrm>
          <a:off x="274320" y="91440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26480" y="1097280"/>
            <a:ext cx="2743200" cy="34747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Tree ensembles clearly beat the simpler models; Logistic Regression is weakest (non-linear patterns).</a:t>
            </a:r>
            <a:endParaRPr lang="en-US" sz="1300" dirty="0"/>
          </a:p>
          <a:p>
            <a:pPr marL="342900" indent="-342900">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Random Forest: best 5-fold CV macro-F1 (0.888) and top AUC, so it was tuned and deployed.</a:t>
            </a:r>
            <a:endParaRPr lang="en-US" sz="1300" dirty="0"/>
          </a:p>
          <a:p>
            <a:pPr marL="342900" indent="-342900">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Final tuned Random Forest: accuracy 94.1%, macro-F1 0.90, AUC 0.985.</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drives the predictions</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8</a:t>
            </a:r>
            <a:endParaRPr lang="en-US" sz="1000" dirty="0"/>
          </a:p>
        </p:txBody>
      </p:sp>
      <p:pic>
        <p:nvPicPr>
          <p:cNvPr id="5" name="Image 0" descr="deliver/figs/09_variable_importance.png">    </p:cNvPr>
          <p:cNvPicPr>
            <a:picLocks noChangeAspect="1"/>
          </p:cNvPicPr>
          <p:nvPr/>
        </p:nvPicPr>
        <p:blipFill>
          <a:blip r:embed="rId1"/>
          <a:stretch>
            <a:fillRect/>
          </a:stretch>
        </p:blipFill>
        <p:spPr>
          <a:xfrm>
            <a:off x="274320" y="930729"/>
            <a:ext cx="5852160" cy="3762103"/>
          </a:xfrm>
          <a:prstGeom prst="rect">
            <a:avLst/>
          </a:prstGeom>
        </p:spPr>
      </p:pic>
      <p:sp>
        <p:nvSpPr>
          <p:cNvPr id="6" name="Shape 3"/>
          <p:cNvSpPr/>
          <p:nvPr/>
        </p:nvSpPr>
        <p:spPr>
          <a:xfrm>
            <a:off x="6263640" y="1188720"/>
            <a:ext cx="2606040" cy="2926080"/>
          </a:xfrm>
          <a:prstGeom prst="rect">
            <a:avLst/>
          </a:prstGeom>
          <a:solidFill>
            <a:srgbClr val="F6F8F9"/>
          </a:solidFill>
          <a:ln w="19050">
            <a:solidFill>
              <a:srgbClr val="2A9D8F"/>
            </a:solidFill>
            <a:prstDash val="solid"/>
          </a:ln>
        </p:spPr>
      </p:sp>
      <p:sp>
        <p:nvSpPr>
          <p:cNvPr id="7" name="Shape 4"/>
          <p:cNvSpPr/>
          <p:nvPr/>
        </p:nvSpPr>
        <p:spPr>
          <a:xfrm>
            <a:off x="6263640" y="1188720"/>
            <a:ext cx="73152" cy="2926080"/>
          </a:xfrm>
          <a:prstGeom prst="rect">
            <a:avLst/>
          </a:prstGeom>
          <a:solidFill>
            <a:srgbClr val="2A9D8F"/>
          </a:solidFill>
          <a:ln/>
        </p:spPr>
      </p:sp>
      <p:sp>
        <p:nvSpPr>
          <p:cNvPr id="8" name="Text 5"/>
          <p:cNvSpPr txBox="1"/>
          <p:nvPr/>
        </p:nvSpPr>
        <p:spPr>
          <a:xfrm>
            <a:off x="6446520" y="1234440"/>
            <a:ext cx="2331720" cy="2834640"/>
          </a:xfrm>
          <a:prstGeom prst="rect">
            <a:avLst/>
          </a:prstGeom>
          <a:noFill/>
          <a:ln/>
        </p:spPr>
        <p:txBody>
          <a:bodyPr wrap="square" lIns="0" tIns="0" rIns="0" bIns="0" rtlCol="0" anchor="ctr"/>
          <a:lstStyle/>
          <a:p>
            <a:pPr indent="0" marL="0">
              <a:buNone/>
            </a:pPr>
            <a:r>
              <a:rPr lang="en-US" sz="1300" dirty="0">
                <a:solidFill>
                  <a:srgbClr val="22303C"/>
                </a:solidFill>
                <a:latin typeface="Calibri" pitchFamily="34" charset="0"/>
                <a:ea typeface="Calibri" pitchFamily="34" charset="-122"/>
                <a:cs typeface="Calibri" pitchFamily="34" charset="-120"/>
              </a:rPr>
              <a:t>All four models rely on the signals clinicians watch: abnormal short- and long-term variability, histogram mean, accelerations and prolonged decelerations. This makes the predictions clinically sensible.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Confusion matrix: 97% of Pathological cases caught</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9</a:t>
            </a:r>
            <a:endParaRPr lang="en-US" sz="1000" dirty="0"/>
          </a:p>
        </p:txBody>
      </p:sp>
      <p:pic>
        <p:nvPicPr>
          <p:cNvPr id="5" name="Image 0" descr="deliver/figs/10_confusion_matrix.png">    </p:cNvPr>
          <p:cNvPicPr>
            <a:picLocks noChangeAspect="1"/>
          </p:cNvPicPr>
          <p:nvPr/>
        </p:nvPicPr>
        <p:blipFill>
          <a:blip r:embed="rId1"/>
          <a:stretch>
            <a:fillRect/>
          </a:stretch>
        </p:blipFill>
        <p:spPr>
          <a:xfrm>
            <a:off x="274320" y="1297745"/>
            <a:ext cx="5852160" cy="2250831"/>
          </a:xfrm>
          <a:prstGeom prst="rect">
            <a:avLst/>
          </a:prstGeom>
        </p:spPr>
      </p:pic>
      <p:sp>
        <p:nvSpPr>
          <p:cNvPr id="6" name="Text 3"/>
          <p:cNvSpPr txBox="1"/>
          <p:nvPr/>
        </p:nvSpPr>
        <p:spPr>
          <a:xfrm>
            <a:off x="6263640" y="1005840"/>
            <a:ext cx="2606040" cy="32918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34 of 35 Pathological cases detected; none predicted as Normal.</a:t>
            </a:r>
            <a:endParaRPr lang="en-US" sz="1200" dirty="0"/>
          </a:p>
          <a:p>
            <a:pPr marL="342900" indent="-342900">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Normal: 321 of 330 correct.</a:t>
            </a:r>
            <a:endParaRPr lang="en-US" sz="1200" dirty="0"/>
          </a:p>
          <a:p>
            <a:pPr marL="342900" indent="-342900">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Weak spot: Suspect (74% recall). 14 of 58 were labelled Normal, as this class is the borderline zone.</a:t>
            </a:r>
            <a:endParaRPr lang="en-US" sz="1200" dirty="0"/>
          </a:p>
        </p:txBody>
      </p:sp>
      <p:sp>
        <p:nvSpPr>
          <p:cNvPr id="7" name="Shape 4"/>
          <p:cNvSpPr/>
          <p:nvPr/>
        </p:nvSpPr>
        <p:spPr>
          <a:xfrm>
            <a:off x="365760" y="4114800"/>
            <a:ext cx="5760720" cy="594360"/>
          </a:xfrm>
          <a:prstGeom prst="rect">
            <a:avLst/>
          </a:prstGeom>
          <a:solidFill>
            <a:srgbClr val="F6F8F9"/>
          </a:solidFill>
          <a:ln w="19050">
            <a:solidFill>
              <a:srgbClr val="2A9D8F"/>
            </a:solidFill>
            <a:prstDash val="solid"/>
          </a:ln>
        </p:spPr>
      </p:sp>
      <p:sp>
        <p:nvSpPr>
          <p:cNvPr id="8" name="Shape 5"/>
          <p:cNvSpPr/>
          <p:nvPr/>
        </p:nvSpPr>
        <p:spPr>
          <a:xfrm>
            <a:off x="365760" y="4114800"/>
            <a:ext cx="73152" cy="594360"/>
          </a:xfrm>
          <a:prstGeom prst="rect">
            <a:avLst/>
          </a:prstGeom>
          <a:solidFill>
            <a:srgbClr val="2A9D8F"/>
          </a:solidFill>
          <a:ln/>
        </p:spPr>
      </p:sp>
      <p:sp>
        <p:nvSpPr>
          <p:cNvPr id="9" name="Text 6"/>
          <p:cNvSpPr txBox="1"/>
          <p:nvPr/>
        </p:nvSpPr>
        <p:spPr>
          <a:xfrm>
            <a:off x="548640" y="4160520"/>
            <a:ext cx="5486400" cy="502920"/>
          </a:xfrm>
          <a:prstGeom prst="rect">
            <a:avLst/>
          </a:prstGeom>
          <a:noFill/>
          <a:ln/>
        </p:spPr>
        <p:txBody>
          <a:bodyPr wrap="square" lIns="0" tIns="0" rIns="0" bIns="0" rtlCol="0" anchor="ctr"/>
          <a:lstStyle/>
          <a:p>
            <a:pPr indent="0" marL="0">
              <a:buNone/>
            </a:pPr>
            <a:r>
              <a:rPr lang="en-US" sz="1300" dirty="0">
                <a:solidFill>
                  <a:srgbClr val="22303C"/>
                </a:solidFill>
                <a:latin typeface="Calibri" pitchFamily="34" charset="0"/>
                <a:ea typeface="Calibri" pitchFamily="34" charset="-122"/>
                <a:cs typeface="Calibri" pitchFamily="34" charset="-120"/>
              </a:rPr>
              <a:t>Precision / recall / F1:  Normal 0.96 / 0.97 / 0.97   Suspect 0.83 / 0.74 / 0.78   Pathological 0.94 / 0.97 / 0.96</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ROC curves: excellent class separation</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10</a:t>
            </a:r>
            <a:endParaRPr lang="en-US" sz="1000" dirty="0"/>
          </a:p>
        </p:txBody>
      </p:sp>
      <p:pic>
        <p:nvPicPr>
          <p:cNvPr id="5" name="Image 0" descr="deliver/figs/11_roc_curves.png">    </p:cNvPr>
          <p:cNvPicPr>
            <a:picLocks noChangeAspect="1"/>
          </p:cNvPicPr>
          <p:nvPr/>
        </p:nvPicPr>
        <p:blipFill>
          <a:blip r:embed="rId1"/>
          <a:stretch>
            <a:fillRect/>
          </a:stretch>
        </p:blipFill>
        <p:spPr>
          <a:xfrm>
            <a:off x="384810" y="868680"/>
            <a:ext cx="4533900" cy="3886200"/>
          </a:xfrm>
          <a:prstGeom prst="rect">
            <a:avLst/>
          </a:prstGeom>
        </p:spPr>
      </p:pic>
      <p:sp>
        <p:nvSpPr>
          <p:cNvPr id="6" name="Shape 3"/>
          <p:cNvSpPr/>
          <p:nvPr/>
        </p:nvSpPr>
        <p:spPr>
          <a:xfrm>
            <a:off x="5394960" y="1097280"/>
            <a:ext cx="3383280" cy="914400"/>
          </a:xfrm>
          <a:prstGeom prst="rect">
            <a:avLst/>
          </a:prstGeom>
          <a:solidFill>
            <a:srgbClr val="F6F8F9"/>
          </a:solidFill>
          <a:ln w="19050">
            <a:solidFill>
              <a:srgbClr val="E76F51"/>
            </a:solidFill>
            <a:prstDash val="solid"/>
          </a:ln>
        </p:spPr>
      </p:sp>
      <p:sp>
        <p:nvSpPr>
          <p:cNvPr id="7" name="Text 4"/>
          <p:cNvSpPr txBox="1"/>
          <p:nvPr/>
        </p:nvSpPr>
        <p:spPr>
          <a:xfrm>
            <a:off x="5486400" y="1097280"/>
            <a:ext cx="1280160" cy="914400"/>
          </a:xfrm>
          <a:prstGeom prst="rect">
            <a:avLst/>
          </a:prstGeom>
          <a:noFill/>
          <a:ln/>
        </p:spPr>
        <p:txBody>
          <a:bodyPr wrap="square" lIns="0" tIns="0" rIns="0" bIns="0" rtlCol="0" anchor="ctr"/>
          <a:lstStyle/>
          <a:p>
            <a:pPr indent="0" marL="0">
              <a:buNone/>
            </a:pPr>
            <a:r>
              <a:rPr lang="en-US" sz="3000" b="1" dirty="0">
                <a:solidFill>
                  <a:srgbClr val="22303C"/>
                </a:solidFill>
                <a:latin typeface="Calibri" pitchFamily="34" charset="0"/>
                <a:ea typeface="Calibri" pitchFamily="34" charset="-122"/>
                <a:cs typeface="Calibri" pitchFamily="34" charset="-120"/>
              </a:rPr>
              <a:t>0.999</a:t>
            </a:r>
            <a:endParaRPr lang="en-US" sz="3000" dirty="0"/>
          </a:p>
        </p:txBody>
      </p:sp>
      <p:sp>
        <p:nvSpPr>
          <p:cNvPr id="8" name="Text 5"/>
          <p:cNvSpPr txBox="1"/>
          <p:nvPr/>
        </p:nvSpPr>
        <p:spPr>
          <a:xfrm>
            <a:off x="6766560" y="1097280"/>
            <a:ext cx="1920240" cy="914400"/>
          </a:xfrm>
          <a:prstGeom prst="rect">
            <a:avLst/>
          </a:prstGeom>
          <a:noFill/>
          <a:ln/>
        </p:spPr>
        <p:txBody>
          <a:bodyPr wrap="square" lIns="0" tIns="0" rIns="0" bIns="0" rtlCol="0" anchor="ctr"/>
          <a:lstStyle/>
          <a:p>
            <a:pPr indent="0" marL="0">
              <a:buNone/>
            </a:pPr>
            <a:r>
              <a:rPr lang="en-US" sz="1400" dirty="0">
                <a:solidFill>
                  <a:srgbClr val="22303C"/>
                </a:solidFill>
                <a:latin typeface="Calibri" pitchFamily="34" charset="0"/>
                <a:ea typeface="Calibri" pitchFamily="34" charset="-122"/>
                <a:cs typeface="Calibri" pitchFamily="34" charset="-120"/>
              </a:rPr>
              <a:t>Pathological AUC</a:t>
            </a:r>
            <a:endParaRPr lang="en-US" sz="1400" dirty="0"/>
          </a:p>
        </p:txBody>
      </p:sp>
      <p:sp>
        <p:nvSpPr>
          <p:cNvPr id="9" name="Shape 6"/>
          <p:cNvSpPr/>
          <p:nvPr/>
        </p:nvSpPr>
        <p:spPr>
          <a:xfrm>
            <a:off x="5394960" y="2194560"/>
            <a:ext cx="3383280" cy="914400"/>
          </a:xfrm>
          <a:prstGeom prst="rect">
            <a:avLst/>
          </a:prstGeom>
          <a:solidFill>
            <a:srgbClr val="F6F8F9"/>
          </a:solidFill>
          <a:ln w="19050">
            <a:solidFill>
              <a:srgbClr val="2A9D8F"/>
            </a:solidFill>
            <a:prstDash val="solid"/>
          </a:ln>
        </p:spPr>
      </p:sp>
      <p:sp>
        <p:nvSpPr>
          <p:cNvPr id="10" name="Text 7"/>
          <p:cNvSpPr txBox="1"/>
          <p:nvPr/>
        </p:nvSpPr>
        <p:spPr>
          <a:xfrm>
            <a:off x="5486400" y="2194560"/>
            <a:ext cx="1280160" cy="914400"/>
          </a:xfrm>
          <a:prstGeom prst="rect">
            <a:avLst/>
          </a:prstGeom>
          <a:noFill/>
          <a:ln/>
        </p:spPr>
        <p:txBody>
          <a:bodyPr wrap="square" lIns="0" tIns="0" rIns="0" bIns="0" rtlCol="0" anchor="ctr"/>
          <a:lstStyle/>
          <a:p>
            <a:pPr indent="0" marL="0">
              <a:buNone/>
            </a:pPr>
            <a:r>
              <a:rPr lang="en-US" sz="3000" b="1" dirty="0">
                <a:solidFill>
                  <a:srgbClr val="22303C"/>
                </a:solidFill>
                <a:latin typeface="Calibri" pitchFamily="34" charset="0"/>
                <a:ea typeface="Calibri" pitchFamily="34" charset="-122"/>
                <a:cs typeface="Calibri" pitchFamily="34" charset="-120"/>
              </a:rPr>
              <a:t>0.983</a:t>
            </a:r>
            <a:endParaRPr lang="en-US" sz="3000" dirty="0"/>
          </a:p>
        </p:txBody>
      </p:sp>
      <p:sp>
        <p:nvSpPr>
          <p:cNvPr id="11" name="Text 8"/>
          <p:cNvSpPr txBox="1"/>
          <p:nvPr/>
        </p:nvSpPr>
        <p:spPr>
          <a:xfrm>
            <a:off x="6766560" y="2194560"/>
            <a:ext cx="1920240" cy="914400"/>
          </a:xfrm>
          <a:prstGeom prst="rect">
            <a:avLst/>
          </a:prstGeom>
          <a:noFill/>
          <a:ln/>
        </p:spPr>
        <p:txBody>
          <a:bodyPr wrap="square" lIns="0" tIns="0" rIns="0" bIns="0" rtlCol="0" anchor="ctr"/>
          <a:lstStyle/>
          <a:p>
            <a:pPr indent="0" marL="0">
              <a:buNone/>
            </a:pPr>
            <a:r>
              <a:rPr lang="en-US" sz="1400" dirty="0">
                <a:solidFill>
                  <a:srgbClr val="22303C"/>
                </a:solidFill>
                <a:latin typeface="Calibri" pitchFamily="34" charset="0"/>
                <a:ea typeface="Calibri" pitchFamily="34" charset="-122"/>
                <a:cs typeface="Calibri" pitchFamily="34" charset="-120"/>
              </a:rPr>
              <a:t>Normal AUC</a:t>
            </a:r>
            <a:endParaRPr lang="en-US" sz="1400" dirty="0"/>
          </a:p>
        </p:txBody>
      </p:sp>
      <p:sp>
        <p:nvSpPr>
          <p:cNvPr id="12" name="Shape 9"/>
          <p:cNvSpPr/>
          <p:nvPr/>
        </p:nvSpPr>
        <p:spPr>
          <a:xfrm>
            <a:off x="5394960" y="3291840"/>
            <a:ext cx="3383280" cy="914400"/>
          </a:xfrm>
          <a:prstGeom prst="rect">
            <a:avLst/>
          </a:prstGeom>
          <a:solidFill>
            <a:srgbClr val="F6F8F9"/>
          </a:solidFill>
          <a:ln w="19050">
            <a:solidFill>
              <a:srgbClr val="E9C46A"/>
            </a:solidFill>
            <a:prstDash val="solid"/>
          </a:ln>
        </p:spPr>
      </p:sp>
      <p:sp>
        <p:nvSpPr>
          <p:cNvPr id="13" name="Text 10"/>
          <p:cNvSpPr txBox="1"/>
          <p:nvPr/>
        </p:nvSpPr>
        <p:spPr>
          <a:xfrm>
            <a:off x="5486400" y="3291840"/>
            <a:ext cx="1280160" cy="914400"/>
          </a:xfrm>
          <a:prstGeom prst="rect">
            <a:avLst/>
          </a:prstGeom>
          <a:noFill/>
          <a:ln/>
        </p:spPr>
        <p:txBody>
          <a:bodyPr wrap="square" lIns="0" tIns="0" rIns="0" bIns="0" rtlCol="0" anchor="ctr"/>
          <a:lstStyle/>
          <a:p>
            <a:pPr indent="0" marL="0">
              <a:buNone/>
            </a:pPr>
            <a:r>
              <a:rPr lang="en-US" sz="3000" b="1" dirty="0">
                <a:solidFill>
                  <a:srgbClr val="22303C"/>
                </a:solidFill>
                <a:latin typeface="Calibri" pitchFamily="34" charset="0"/>
                <a:ea typeface="Calibri" pitchFamily="34" charset="-122"/>
                <a:cs typeface="Calibri" pitchFamily="34" charset="-120"/>
              </a:rPr>
              <a:t>0.972</a:t>
            </a:r>
            <a:endParaRPr lang="en-US" sz="3000" dirty="0"/>
          </a:p>
        </p:txBody>
      </p:sp>
      <p:sp>
        <p:nvSpPr>
          <p:cNvPr id="14" name="Text 11"/>
          <p:cNvSpPr txBox="1"/>
          <p:nvPr/>
        </p:nvSpPr>
        <p:spPr>
          <a:xfrm>
            <a:off x="6766560" y="3291840"/>
            <a:ext cx="1920240" cy="914400"/>
          </a:xfrm>
          <a:prstGeom prst="rect">
            <a:avLst/>
          </a:prstGeom>
          <a:noFill/>
          <a:ln/>
        </p:spPr>
        <p:txBody>
          <a:bodyPr wrap="square" lIns="0" tIns="0" rIns="0" bIns="0" rtlCol="0" anchor="ctr"/>
          <a:lstStyle/>
          <a:p>
            <a:pPr indent="0" marL="0">
              <a:buNone/>
            </a:pPr>
            <a:r>
              <a:rPr lang="en-US" sz="1400" dirty="0">
                <a:solidFill>
                  <a:srgbClr val="22303C"/>
                </a:solidFill>
                <a:latin typeface="Calibri" pitchFamily="34" charset="0"/>
                <a:ea typeface="Calibri" pitchFamily="34" charset="-122"/>
                <a:cs typeface="Calibri" pitchFamily="34" charset="-120"/>
              </a:rPr>
              <a:t>Suspect AUC</a:t>
            </a:r>
            <a:endParaRPr lang="en-US" sz="1400" dirty="0"/>
          </a:p>
        </p:txBody>
      </p:sp>
      <p:sp>
        <p:nvSpPr>
          <p:cNvPr id="15" name="Text 12"/>
          <p:cNvSpPr txBox="1"/>
          <p:nvPr/>
        </p:nvSpPr>
        <p:spPr>
          <a:xfrm>
            <a:off x="5394960" y="4434840"/>
            <a:ext cx="3383280" cy="274320"/>
          </a:xfrm>
          <a:prstGeom prst="rect">
            <a:avLst/>
          </a:prstGeom>
          <a:noFill/>
          <a:ln/>
        </p:spPr>
        <p:txBody>
          <a:bodyPr wrap="square" lIns="0" tIns="0" rIns="0" bIns="0" rtlCol="0" anchor="ctr"/>
          <a:lstStyle/>
          <a:p>
            <a:pPr indent="0" marL="0">
              <a:buNone/>
            </a:pPr>
            <a:r>
              <a:rPr lang="en-US" sz="1100" dirty="0">
                <a:solidFill>
                  <a:srgbClr val="5C6B77"/>
                </a:solidFill>
                <a:latin typeface="Calibri" pitchFamily="34" charset="0"/>
                <a:ea typeface="Calibri" pitchFamily="34" charset="-122"/>
                <a:cs typeface="Calibri" pitchFamily="34" charset="-120"/>
              </a:rPr>
              <a:t>0.5 = random guessing. All three classes exceed 0.97.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Deployment: Streamlit web app prototype</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457200" y="1097280"/>
            <a:ext cx="2651760" cy="2103120"/>
          </a:xfrm>
          <a:prstGeom prst="rect">
            <a:avLst/>
          </a:prstGeom>
          <a:solidFill>
            <a:srgbClr val="F6F8F9"/>
          </a:solidFill>
          <a:ln w="12700">
            <a:solidFill>
              <a:srgbClr val="2A9D8F"/>
            </a:solidFill>
            <a:prstDash val="solid"/>
          </a:ln>
        </p:spPr>
      </p:sp>
      <p:sp>
        <p:nvSpPr>
          <p:cNvPr id="6" name="Shape 4"/>
          <p:cNvSpPr/>
          <p:nvPr/>
        </p:nvSpPr>
        <p:spPr>
          <a:xfrm>
            <a:off x="594360" y="1234440"/>
            <a:ext cx="502920" cy="502920"/>
          </a:xfrm>
          <a:prstGeom prst="ellipse">
            <a:avLst/>
          </a:prstGeom>
          <a:solidFill>
            <a:srgbClr val="2A9D8F"/>
          </a:solidFill>
          <a:ln/>
        </p:spPr>
      </p:sp>
      <p:sp>
        <p:nvSpPr>
          <p:cNvPr id="7" name="Text 5"/>
          <p:cNvSpPr txBox="1"/>
          <p:nvPr/>
        </p:nvSpPr>
        <p:spPr>
          <a:xfrm>
            <a:off x="594360" y="12344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594360" y="1828800"/>
            <a:ext cx="2377440" cy="457200"/>
          </a:xfrm>
          <a:prstGeom prst="rect">
            <a:avLst/>
          </a:prstGeom>
          <a:noFill/>
          <a:ln/>
        </p:spPr>
        <p:txBody>
          <a:bodyPr wrap="square" lIns="0" tIns="0" rIns="0" bIns="0" rtlCol="0" anchor="t"/>
          <a:lstStyle/>
          <a:p>
            <a:pPr indent="0" marL="0">
              <a:buNone/>
            </a:pPr>
            <a:r>
              <a:rPr lang="en-US" sz="1400" b="1" dirty="0">
                <a:solidFill>
                  <a:srgbClr val="1D3557"/>
                </a:solidFill>
                <a:latin typeface="Calibri" pitchFamily="34" charset="0"/>
                <a:ea typeface="Calibri" pitchFamily="34" charset="-122"/>
                <a:cs typeface="Calibri" pitchFamily="34" charset="-120"/>
              </a:rPr>
              <a:t>Enter 10 CTG measurements</a:t>
            </a:r>
            <a:endParaRPr lang="en-US" sz="1400" dirty="0"/>
          </a:p>
        </p:txBody>
      </p:sp>
      <p:sp>
        <p:nvSpPr>
          <p:cNvPr id="9" name="Text 7"/>
          <p:cNvSpPr txBox="1"/>
          <p:nvPr/>
        </p:nvSpPr>
        <p:spPr>
          <a:xfrm>
            <a:off x="594360" y="2331720"/>
            <a:ext cx="2377440" cy="82296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Number inputs pre-filled with typical values</a:t>
            </a:r>
            <a:endParaRPr lang="en-US" sz="1200" dirty="0"/>
          </a:p>
        </p:txBody>
      </p:sp>
      <p:sp>
        <p:nvSpPr>
          <p:cNvPr id="10" name="Shape 8"/>
          <p:cNvSpPr/>
          <p:nvPr/>
        </p:nvSpPr>
        <p:spPr>
          <a:xfrm>
            <a:off x="3291840" y="1097280"/>
            <a:ext cx="2651760" cy="2103120"/>
          </a:xfrm>
          <a:prstGeom prst="rect">
            <a:avLst/>
          </a:prstGeom>
          <a:solidFill>
            <a:srgbClr val="F6F8F9"/>
          </a:solidFill>
          <a:ln w="12700">
            <a:solidFill>
              <a:srgbClr val="2A9D8F"/>
            </a:solidFill>
            <a:prstDash val="solid"/>
          </a:ln>
        </p:spPr>
      </p:sp>
      <p:sp>
        <p:nvSpPr>
          <p:cNvPr id="11" name="Shape 9"/>
          <p:cNvSpPr/>
          <p:nvPr/>
        </p:nvSpPr>
        <p:spPr>
          <a:xfrm>
            <a:off x="3429000" y="1234440"/>
            <a:ext cx="502920" cy="502920"/>
          </a:xfrm>
          <a:prstGeom prst="ellipse">
            <a:avLst/>
          </a:prstGeom>
          <a:solidFill>
            <a:srgbClr val="2A9D8F"/>
          </a:solidFill>
          <a:ln/>
        </p:spPr>
      </p:sp>
      <p:sp>
        <p:nvSpPr>
          <p:cNvPr id="12" name="Text 10"/>
          <p:cNvSpPr txBox="1"/>
          <p:nvPr/>
        </p:nvSpPr>
        <p:spPr>
          <a:xfrm>
            <a:off x="3429000" y="12344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3429000" y="1828800"/>
            <a:ext cx="2377440" cy="457200"/>
          </a:xfrm>
          <a:prstGeom prst="rect">
            <a:avLst/>
          </a:prstGeom>
          <a:noFill/>
          <a:ln/>
        </p:spPr>
        <p:txBody>
          <a:bodyPr wrap="square" lIns="0" tIns="0" rIns="0" bIns="0" rtlCol="0" anchor="t"/>
          <a:lstStyle/>
          <a:p>
            <a:pPr indent="0" marL="0">
              <a:buNone/>
            </a:pPr>
            <a:r>
              <a:rPr lang="en-US" sz="1400" b="1" dirty="0">
                <a:solidFill>
                  <a:srgbClr val="1D3557"/>
                </a:solidFill>
                <a:latin typeface="Calibri" pitchFamily="34" charset="0"/>
                <a:ea typeface="Calibri" pitchFamily="34" charset="-122"/>
                <a:cs typeface="Calibri" pitchFamily="34" charset="-120"/>
              </a:rPr>
              <a:t>Click Predict</a:t>
            </a:r>
            <a:endParaRPr lang="en-US" sz="1400" dirty="0"/>
          </a:p>
        </p:txBody>
      </p:sp>
      <p:sp>
        <p:nvSpPr>
          <p:cNvPr id="14" name="Text 12"/>
          <p:cNvSpPr txBox="1"/>
          <p:nvPr/>
        </p:nvSpPr>
        <p:spPr>
          <a:xfrm>
            <a:off x="3429000" y="2331720"/>
            <a:ext cx="2377440" cy="82296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Same clipping and scaling as training, then Random Forest</a:t>
            </a:r>
            <a:endParaRPr lang="en-US" sz="1200" dirty="0"/>
          </a:p>
        </p:txBody>
      </p:sp>
      <p:sp>
        <p:nvSpPr>
          <p:cNvPr id="15" name="Shape 13"/>
          <p:cNvSpPr/>
          <p:nvPr/>
        </p:nvSpPr>
        <p:spPr>
          <a:xfrm>
            <a:off x="6126480" y="1097280"/>
            <a:ext cx="2651760" cy="2103120"/>
          </a:xfrm>
          <a:prstGeom prst="rect">
            <a:avLst/>
          </a:prstGeom>
          <a:solidFill>
            <a:srgbClr val="F6F8F9"/>
          </a:solidFill>
          <a:ln w="12700">
            <a:solidFill>
              <a:srgbClr val="2A9D8F"/>
            </a:solidFill>
            <a:prstDash val="solid"/>
          </a:ln>
        </p:spPr>
      </p:sp>
      <p:sp>
        <p:nvSpPr>
          <p:cNvPr id="16" name="Shape 14"/>
          <p:cNvSpPr/>
          <p:nvPr/>
        </p:nvSpPr>
        <p:spPr>
          <a:xfrm>
            <a:off x="6263640" y="1234440"/>
            <a:ext cx="502920" cy="502920"/>
          </a:xfrm>
          <a:prstGeom prst="ellipse">
            <a:avLst/>
          </a:prstGeom>
          <a:solidFill>
            <a:srgbClr val="2A9D8F"/>
          </a:solidFill>
          <a:ln/>
        </p:spPr>
      </p:sp>
      <p:sp>
        <p:nvSpPr>
          <p:cNvPr id="17" name="Text 15"/>
          <p:cNvSpPr txBox="1"/>
          <p:nvPr/>
        </p:nvSpPr>
        <p:spPr>
          <a:xfrm>
            <a:off x="6263640" y="12344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6263640" y="1828800"/>
            <a:ext cx="2377440" cy="457200"/>
          </a:xfrm>
          <a:prstGeom prst="rect">
            <a:avLst/>
          </a:prstGeom>
          <a:noFill/>
          <a:ln/>
        </p:spPr>
        <p:txBody>
          <a:bodyPr wrap="square" lIns="0" tIns="0" rIns="0" bIns="0" rtlCol="0" anchor="t"/>
          <a:lstStyle/>
          <a:p>
            <a:pPr indent="0" marL="0">
              <a:buNone/>
            </a:pPr>
            <a:r>
              <a:rPr lang="en-US" sz="1400" b="1" dirty="0">
                <a:solidFill>
                  <a:srgbClr val="1D3557"/>
                </a:solidFill>
                <a:latin typeface="Calibri" pitchFamily="34" charset="0"/>
                <a:ea typeface="Calibri" pitchFamily="34" charset="-122"/>
                <a:cs typeface="Calibri" pitchFamily="34" charset="-120"/>
              </a:rPr>
              <a:t>Read probabilities</a:t>
            </a:r>
            <a:endParaRPr lang="en-US" sz="1400" dirty="0"/>
          </a:p>
        </p:txBody>
      </p:sp>
      <p:sp>
        <p:nvSpPr>
          <p:cNvPr id="19" name="Text 17"/>
          <p:cNvSpPr txBox="1"/>
          <p:nvPr/>
        </p:nvSpPr>
        <p:spPr>
          <a:xfrm>
            <a:off x="6263640" y="2331720"/>
            <a:ext cx="2377440" cy="82296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e.g. "The model predicts a 98.5% probability the status is Pathological"</a:t>
            </a:r>
            <a:endParaRPr lang="en-US" sz="1200" dirty="0"/>
          </a:p>
        </p:txBody>
      </p:sp>
      <p:sp>
        <p:nvSpPr>
          <p:cNvPr id="20" name="Text 18"/>
          <p:cNvSpPr txBox="1"/>
          <p:nvPr/>
        </p:nvSpPr>
        <p:spPr>
          <a:xfrm>
            <a:off x="457200" y="3474720"/>
            <a:ext cx="822960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Outputs probabilities for Normal, Suspect and Pathological, colour-coded green/amber/red.</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Suspect or Pathological results prompt urgent clinician review.</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Run locally with: streamlit run app.py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3557"/>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Recommendations</a:t>
            </a:r>
            <a:endParaRPr lang="en-US" sz="2400" dirty="0"/>
          </a:p>
        </p:txBody>
      </p:sp>
      <p:sp>
        <p:nvSpPr>
          <p:cNvPr id="4" name="Text 2"/>
          <p:cNvSpPr txBox="1"/>
          <p:nvPr/>
        </p:nvSpPr>
        <p:spPr>
          <a:xfrm>
            <a:off x="8503920" y="4800600"/>
            <a:ext cx="457200" cy="228600"/>
          </a:xfrm>
          <a:prstGeom prst="rect">
            <a:avLst/>
          </a:prstGeom>
          <a:noFill/>
          <a:ln/>
        </p:spPr>
        <p:txBody>
          <a:bodyPr wrap="square" lIns="0" tIns="0" rIns="0" bIns="0" rtlCol="0" anchor="ctr"/>
          <a:lstStyle/>
          <a:p>
            <a:pPr algn="r" indent="0" marL="0">
              <a:buNone/>
            </a:pPr>
            <a:r>
              <a:rPr lang="en-US" sz="1000" dirty="0">
                <a:solidFill>
                  <a:srgbClr val="5C6B77"/>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457200" y="960120"/>
            <a:ext cx="8229600" cy="640080"/>
          </a:xfrm>
          <a:prstGeom prst="rect">
            <a:avLst/>
          </a:prstGeom>
          <a:solidFill>
            <a:srgbClr val="F6F8F9"/>
          </a:solidFill>
          <a:ln w="12700">
            <a:solidFill>
              <a:srgbClr val="2A9D8F"/>
            </a:solidFill>
            <a:prstDash val="solid"/>
          </a:ln>
        </p:spPr>
      </p:sp>
      <p:sp>
        <p:nvSpPr>
          <p:cNvPr id="6" name="Shape 4"/>
          <p:cNvSpPr/>
          <p:nvPr/>
        </p:nvSpPr>
        <p:spPr>
          <a:xfrm>
            <a:off x="457200" y="960120"/>
            <a:ext cx="73152" cy="640080"/>
          </a:xfrm>
          <a:prstGeom prst="rect">
            <a:avLst/>
          </a:prstGeom>
          <a:solidFill>
            <a:srgbClr val="2A9D8F"/>
          </a:solidFill>
          <a:ln/>
        </p:spPr>
      </p:sp>
      <p:sp>
        <p:nvSpPr>
          <p:cNvPr id="7" name="Text 5"/>
          <p:cNvSpPr txBox="1"/>
          <p:nvPr/>
        </p:nvSpPr>
        <p:spPr>
          <a:xfrm>
            <a:off x="685800" y="960120"/>
            <a:ext cx="2468880" cy="640080"/>
          </a:xfrm>
          <a:prstGeom prst="rect">
            <a:avLst/>
          </a:prstGeom>
          <a:noFill/>
          <a:ln/>
        </p:spPr>
        <p:txBody>
          <a:bodyPr wrap="square" lIns="0" tIns="0" rIns="0" bIns="0" rtlCol="0" anchor="ctr"/>
          <a:lstStyle/>
          <a:p>
            <a:pPr indent="0" marL="0">
              <a:buNone/>
            </a:pPr>
            <a:r>
              <a:rPr lang="en-US" sz="1400" b="1" dirty="0">
                <a:solidFill>
                  <a:srgbClr val="1D3557"/>
                </a:solidFill>
                <a:latin typeface="Calibri" pitchFamily="34" charset="0"/>
                <a:ea typeface="Calibri" pitchFamily="34" charset="-122"/>
                <a:cs typeface="Calibri" pitchFamily="34" charset="-120"/>
              </a:rPr>
              <a:t>Use as decision support</a:t>
            </a:r>
            <a:endParaRPr lang="en-US" sz="1400" dirty="0"/>
          </a:p>
        </p:txBody>
      </p:sp>
      <p:sp>
        <p:nvSpPr>
          <p:cNvPr id="8" name="Text 6"/>
          <p:cNvSpPr txBox="1"/>
          <p:nvPr/>
        </p:nvSpPr>
        <p:spPr>
          <a:xfrm>
            <a:off x="3200400" y="960120"/>
            <a:ext cx="5394960" cy="64008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Flag recordings for urgent review; never replace a clinician.</a:t>
            </a:r>
            <a:endParaRPr lang="en-US" sz="1200" dirty="0"/>
          </a:p>
        </p:txBody>
      </p:sp>
      <p:sp>
        <p:nvSpPr>
          <p:cNvPr id="9" name="Shape 7"/>
          <p:cNvSpPr/>
          <p:nvPr/>
        </p:nvSpPr>
        <p:spPr>
          <a:xfrm>
            <a:off x="457200" y="1709928"/>
            <a:ext cx="8229600" cy="640080"/>
          </a:xfrm>
          <a:prstGeom prst="rect">
            <a:avLst/>
          </a:prstGeom>
          <a:solidFill>
            <a:srgbClr val="F6F8F9"/>
          </a:solidFill>
          <a:ln w="12700">
            <a:solidFill>
              <a:srgbClr val="2A9D8F"/>
            </a:solidFill>
            <a:prstDash val="solid"/>
          </a:ln>
        </p:spPr>
      </p:sp>
      <p:sp>
        <p:nvSpPr>
          <p:cNvPr id="10" name="Shape 8"/>
          <p:cNvSpPr/>
          <p:nvPr/>
        </p:nvSpPr>
        <p:spPr>
          <a:xfrm>
            <a:off x="457200" y="1709928"/>
            <a:ext cx="73152" cy="640080"/>
          </a:xfrm>
          <a:prstGeom prst="rect">
            <a:avLst/>
          </a:prstGeom>
          <a:solidFill>
            <a:srgbClr val="2A9D8F"/>
          </a:solidFill>
          <a:ln/>
        </p:spPr>
      </p:sp>
      <p:sp>
        <p:nvSpPr>
          <p:cNvPr id="11" name="Text 9"/>
          <p:cNvSpPr txBox="1"/>
          <p:nvPr/>
        </p:nvSpPr>
        <p:spPr>
          <a:xfrm>
            <a:off x="685800" y="1709928"/>
            <a:ext cx="2468880" cy="640080"/>
          </a:xfrm>
          <a:prstGeom prst="rect">
            <a:avLst/>
          </a:prstGeom>
          <a:noFill/>
          <a:ln/>
        </p:spPr>
        <p:txBody>
          <a:bodyPr wrap="square" lIns="0" tIns="0" rIns="0" bIns="0" rtlCol="0" anchor="ctr"/>
          <a:lstStyle/>
          <a:p>
            <a:pPr indent="0" marL="0">
              <a:buNone/>
            </a:pPr>
            <a:r>
              <a:rPr lang="en-US" sz="1400" b="1" dirty="0">
                <a:solidFill>
                  <a:srgbClr val="1D3557"/>
                </a:solidFill>
                <a:latin typeface="Calibri" pitchFamily="34" charset="0"/>
                <a:ea typeface="Calibri" pitchFamily="34" charset="-122"/>
                <a:cs typeface="Calibri" pitchFamily="34" charset="-120"/>
              </a:rPr>
              <a:t>Escalate Suspect cases</a:t>
            </a:r>
            <a:endParaRPr lang="en-US" sz="1400" dirty="0"/>
          </a:p>
        </p:txBody>
      </p:sp>
      <p:sp>
        <p:nvSpPr>
          <p:cNvPr id="12" name="Text 10"/>
          <p:cNvSpPr txBox="1"/>
          <p:nvPr/>
        </p:nvSpPr>
        <p:spPr>
          <a:xfrm>
            <a:off x="3200400" y="1709928"/>
            <a:ext cx="5394960" cy="64008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The least reliable class: any Suspect or Pathological probability should trigger human follow-up.</a:t>
            </a:r>
            <a:endParaRPr lang="en-US" sz="1200" dirty="0"/>
          </a:p>
        </p:txBody>
      </p:sp>
      <p:sp>
        <p:nvSpPr>
          <p:cNvPr id="13" name="Shape 11"/>
          <p:cNvSpPr/>
          <p:nvPr/>
        </p:nvSpPr>
        <p:spPr>
          <a:xfrm>
            <a:off x="457200" y="2459736"/>
            <a:ext cx="8229600" cy="640080"/>
          </a:xfrm>
          <a:prstGeom prst="rect">
            <a:avLst/>
          </a:prstGeom>
          <a:solidFill>
            <a:srgbClr val="F6F8F9"/>
          </a:solidFill>
          <a:ln w="12700">
            <a:solidFill>
              <a:srgbClr val="2A9D8F"/>
            </a:solidFill>
            <a:prstDash val="solid"/>
          </a:ln>
        </p:spPr>
      </p:sp>
      <p:sp>
        <p:nvSpPr>
          <p:cNvPr id="14" name="Shape 12"/>
          <p:cNvSpPr/>
          <p:nvPr/>
        </p:nvSpPr>
        <p:spPr>
          <a:xfrm>
            <a:off x="457200" y="2459736"/>
            <a:ext cx="73152" cy="640080"/>
          </a:xfrm>
          <a:prstGeom prst="rect">
            <a:avLst/>
          </a:prstGeom>
          <a:solidFill>
            <a:srgbClr val="2A9D8F"/>
          </a:solidFill>
          <a:ln/>
        </p:spPr>
      </p:sp>
      <p:sp>
        <p:nvSpPr>
          <p:cNvPr id="15" name="Text 13"/>
          <p:cNvSpPr txBox="1"/>
          <p:nvPr/>
        </p:nvSpPr>
        <p:spPr>
          <a:xfrm>
            <a:off x="685800" y="2459736"/>
            <a:ext cx="2468880" cy="640080"/>
          </a:xfrm>
          <a:prstGeom prst="rect">
            <a:avLst/>
          </a:prstGeom>
          <a:noFill/>
          <a:ln/>
        </p:spPr>
        <p:txBody>
          <a:bodyPr wrap="square" lIns="0" tIns="0" rIns="0" bIns="0" rtlCol="0" anchor="ctr"/>
          <a:lstStyle/>
          <a:p>
            <a:pPr indent="0" marL="0">
              <a:buNone/>
            </a:pPr>
            <a:r>
              <a:rPr lang="en-US" sz="1400" b="1" dirty="0">
                <a:solidFill>
                  <a:srgbClr val="1D3557"/>
                </a:solidFill>
                <a:latin typeface="Calibri" pitchFamily="34" charset="0"/>
                <a:ea typeface="Calibri" pitchFamily="34" charset="-122"/>
                <a:cs typeface="Calibri" pitchFamily="34" charset="-120"/>
              </a:rPr>
              <a:t>Train staff on key signals</a:t>
            </a:r>
            <a:endParaRPr lang="en-US" sz="1400" dirty="0"/>
          </a:p>
        </p:txBody>
      </p:sp>
      <p:sp>
        <p:nvSpPr>
          <p:cNvPr id="16" name="Text 14"/>
          <p:cNvSpPr txBox="1"/>
          <p:nvPr/>
        </p:nvSpPr>
        <p:spPr>
          <a:xfrm>
            <a:off x="3200400" y="2459736"/>
            <a:ext cx="5394960" cy="64008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Variability, prolonged decelerations and missing accelerations drive risk.</a:t>
            </a:r>
            <a:endParaRPr lang="en-US" sz="1200" dirty="0"/>
          </a:p>
        </p:txBody>
      </p:sp>
      <p:sp>
        <p:nvSpPr>
          <p:cNvPr id="17" name="Shape 15"/>
          <p:cNvSpPr/>
          <p:nvPr/>
        </p:nvSpPr>
        <p:spPr>
          <a:xfrm>
            <a:off x="457200" y="3209544"/>
            <a:ext cx="8229600" cy="640080"/>
          </a:xfrm>
          <a:prstGeom prst="rect">
            <a:avLst/>
          </a:prstGeom>
          <a:solidFill>
            <a:srgbClr val="F6F8F9"/>
          </a:solidFill>
          <a:ln w="12700">
            <a:solidFill>
              <a:srgbClr val="2A9D8F"/>
            </a:solidFill>
            <a:prstDash val="solid"/>
          </a:ln>
        </p:spPr>
      </p:sp>
      <p:sp>
        <p:nvSpPr>
          <p:cNvPr id="18" name="Shape 16"/>
          <p:cNvSpPr/>
          <p:nvPr/>
        </p:nvSpPr>
        <p:spPr>
          <a:xfrm>
            <a:off x="457200" y="3209544"/>
            <a:ext cx="73152" cy="640080"/>
          </a:xfrm>
          <a:prstGeom prst="rect">
            <a:avLst/>
          </a:prstGeom>
          <a:solidFill>
            <a:srgbClr val="2A9D8F"/>
          </a:solidFill>
          <a:ln/>
        </p:spPr>
      </p:sp>
      <p:sp>
        <p:nvSpPr>
          <p:cNvPr id="19" name="Text 17"/>
          <p:cNvSpPr txBox="1"/>
          <p:nvPr/>
        </p:nvSpPr>
        <p:spPr>
          <a:xfrm>
            <a:off x="685800" y="3209544"/>
            <a:ext cx="2468880" cy="640080"/>
          </a:xfrm>
          <a:prstGeom prst="rect">
            <a:avLst/>
          </a:prstGeom>
          <a:noFill/>
          <a:ln/>
        </p:spPr>
        <p:txBody>
          <a:bodyPr wrap="square" lIns="0" tIns="0" rIns="0" bIns="0" rtlCol="0" anchor="ctr"/>
          <a:lstStyle/>
          <a:p>
            <a:pPr indent="0" marL="0">
              <a:buNone/>
            </a:pPr>
            <a:r>
              <a:rPr lang="en-US" sz="1400" b="1" dirty="0">
                <a:solidFill>
                  <a:srgbClr val="1D3557"/>
                </a:solidFill>
                <a:latin typeface="Calibri" pitchFamily="34" charset="0"/>
                <a:ea typeface="Calibri" pitchFamily="34" charset="-122"/>
                <a:cs typeface="Calibri" pitchFamily="34" charset="-120"/>
              </a:rPr>
              <a:t>Validate locally first</a:t>
            </a:r>
            <a:endParaRPr lang="en-US" sz="1400" dirty="0"/>
          </a:p>
        </p:txBody>
      </p:sp>
      <p:sp>
        <p:nvSpPr>
          <p:cNvPr id="20" name="Text 18"/>
          <p:cNvSpPr txBox="1"/>
          <p:nvPr/>
        </p:nvSpPr>
        <p:spPr>
          <a:xfrm>
            <a:off x="3200400" y="3209544"/>
            <a:ext cx="5394960" cy="64008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Test on local clinic data and keep monitoring performance over time.</a:t>
            </a:r>
            <a:endParaRPr lang="en-US" sz="1200" dirty="0"/>
          </a:p>
        </p:txBody>
      </p:sp>
      <p:sp>
        <p:nvSpPr>
          <p:cNvPr id="21" name="Shape 19"/>
          <p:cNvSpPr/>
          <p:nvPr/>
        </p:nvSpPr>
        <p:spPr>
          <a:xfrm>
            <a:off x="457200" y="3959352"/>
            <a:ext cx="8229600" cy="640080"/>
          </a:xfrm>
          <a:prstGeom prst="rect">
            <a:avLst/>
          </a:prstGeom>
          <a:solidFill>
            <a:srgbClr val="F6F8F9"/>
          </a:solidFill>
          <a:ln w="12700">
            <a:solidFill>
              <a:srgbClr val="2A9D8F"/>
            </a:solidFill>
            <a:prstDash val="solid"/>
          </a:ln>
        </p:spPr>
      </p:sp>
      <p:sp>
        <p:nvSpPr>
          <p:cNvPr id="22" name="Shape 20"/>
          <p:cNvSpPr/>
          <p:nvPr/>
        </p:nvSpPr>
        <p:spPr>
          <a:xfrm>
            <a:off x="457200" y="3959352"/>
            <a:ext cx="73152" cy="640080"/>
          </a:xfrm>
          <a:prstGeom prst="rect">
            <a:avLst/>
          </a:prstGeom>
          <a:solidFill>
            <a:srgbClr val="2A9D8F"/>
          </a:solidFill>
          <a:ln/>
        </p:spPr>
      </p:sp>
      <p:sp>
        <p:nvSpPr>
          <p:cNvPr id="23" name="Text 21"/>
          <p:cNvSpPr txBox="1"/>
          <p:nvPr/>
        </p:nvSpPr>
        <p:spPr>
          <a:xfrm>
            <a:off x="685800" y="3959352"/>
            <a:ext cx="2468880" cy="640080"/>
          </a:xfrm>
          <a:prstGeom prst="rect">
            <a:avLst/>
          </a:prstGeom>
          <a:noFill/>
          <a:ln/>
        </p:spPr>
        <p:txBody>
          <a:bodyPr wrap="square" lIns="0" tIns="0" rIns="0" bIns="0" rtlCol="0" anchor="ctr"/>
          <a:lstStyle/>
          <a:p>
            <a:pPr indent="0" marL="0">
              <a:buNone/>
            </a:pPr>
            <a:r>
              <a:rPr lang="en-US" sz="1400" b="1" dirty="0">
                <a:solidFill>
                  <a:srgbClr val="1D3557"/>
                </a:solidFill>
                <a:latin typeface="Calibri" pitchFamily="34" charset="0"/>
                <a:ea typeface="Calibri" pitchFamily="34" charset="-122"/>
                <a:cs typeface="Calibri" pitchFamily="34" charset="-120"/>
              </a:rPr>
              <a:t>Improve the model</a:t>
            </a:r>
            <a:endParaRPr lang="en-US" sz="1400" dirty="0"/>
          </a:p>
        </p:txBody>
      </p:sp>
      <p:sp>
        <p:nvSpPr>
          <p:cNvPr id="24" name="Text 22"/>
          <p:cNvSpPr txBox="1"/>
          <p:nvPr/>
        </p:nvSpPr>
        <p:spPr>
          <a:xfrm>
            <a:off x="3200400" y="3959352"/>
            <a:ext cx="5394960" cy="64008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Gather more Suspect/Pathological cases; try XGBoost, calibration and threshold tuning.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D3557"/>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3" name="Text 1"/>
          <p:cNvSpPr txBox="1"/>
          <p:nvPr/>
        </p:nvSpPr>
        <p:spPr>
          <a:xfrm>
            <a:off x="640080" y="1554480"/>
            <a:ext cx="1828800" cy="731520"/>
          </a:xfrm>
          <a:prstGeom prst="rect">
            <a:avLst/>
          </a:prstGeom>
          <a:noFill/>
          <a:ln/>
        </p:spPr>
        <p:txBody>
          <a:bodyPr wrap="square" lIns="0" tIns="0" rIns="0" bIns="0" rtlCol="0" anchor="ctr"/>
          <a:lstStyle/>
          <a:p>
            <a:pPr indent="0" marL="0">
              <a:buNone/>
            </a:pPr>
            <a:r>
              <a:rPr lang="en-US" sz="3600" b="1" dirty="0">
                <a:solidFill>
                  <a:srgbClr val="E9C46A"/>
                </a:solidFill>
                <a:latin typeface="Calibri" pitchFamily="34" charset="0"/>
                <a:ea typeface="Calibri" pitchFamily="34" charset="-122"/>
                <a:cs typeface="Calibri" pitchFamily="34" charset="-120"/>
              </a:rPr>
              <a:t>94%</a:t>
            </a:r>
            <a:endParaRPr lang="en-US" sz="3600" dirty="0"/>
          </a:p>
        </p:txBody>
      </p:sp>
      <p:sp>
        <p:nvSpPr>
          <p:cNvPr id="4" name="Text 2"/>
          <p:cNvSpPr txBox="1"/>
          <p:nvPr/>
        </p:nvSpPr>
        <p:spPr>
          <a:xfrm>
            <a:off x="640080" y="2286000"/>
            <a:ext cx="1828800" cy="365760"/>
          </a:xfrm>
          <a:prstGeom prst="rect">
            <a:avLst/>
          </a:prstGeom>
          <a:noFill/>
          <a:ln/>
        </p:spPr>
        <p:txBody>
          <a:bodyPr wrap="square" lIns="0" tIns="0" rIns="0" bIns="0" rtlCol="0" anchor="ctr"/>
          <a:lstStyle/>
          <a:p>
            <a:pPr indent="0" marL="0">
              <a:buNone/>
            </a:pPr>
            <a:r>
              <a:rPr lang="en-US" sz="1300" dirty="0">
                <a:solidFill>
                  <a:srgbClr val="CFE3E0"/>
                </a:solidFill>
                <a:latin typeface="Calibri" pitchFamily="34" charset="0"/>
                <a:ea typeface="Calibri" pitchFamily="34" charset="-122"/>
                <a:cs typeface="Calibri" pitchFamily="34" charset="-120"/>
              </a:rPr>
              <a:t>test accuracy</a:t>
            </a:r>
            <a:endParaRPr lang="en-US" sz="1300" dirty="0"/>
          </a:p>
        </p:txBody>
      </p:sp>
      <p:sp>
        <p:nvSpPr>
          <p:cNvPr id="5" name="Text 3"/>
          <p:cNvSpPr txBox="1"/>
          <p:nvPr/>
        </p:nvSpPr>
        <p:spPr>
          <a:xfrm>
            <a:off x="2651760" y="1554480"/>
            <a:ext cx="1828800" cy="731520"/>
          </a:xfrm>
          <a:prstGeom prst="rect">
            <a:avLst/>
          </a:prstGeom>
          <a:noFill/>
          <a:ln/>
        </p:spPr>
        <p:txBody>
          <a:bodyPr wrap="square" lIns="0" tIns="0" rIns="0" bIns="0" rtlCol="0" anchor="ctr"/>
          <a:lstStyle/>
          <a:p>
            <a:pPr indent="0" marL="0">
              <a:buNone/>
            </a:pPr>
            <a:r>
              <a:rPr lang="en-US" sz="3600" b="1" dirty="0">
                <a:solidFill>
                  <a:srgbClr val="E9C46A"/>
                </a:solidFill>
                <a:latin typeface="Calibri" pitchFamily="34" charset="0"/>
                <a:ea typeface="Calibri" pitchFamily="34" charset="-122"/>
                <a:cs typeface="Calibri" pitchFamily="34" charset="-120"/>
              </a:rPr>
              <a:t>0.90</a:t>
            </a:r>
            <a:endParaRPr lang="en-US" sz="3600" dirty="0"/>
          </a:p>
        </p:txBody>
      </p:sp>
      <p:sp>
        <p:nvSpPr>
          <p:cNvPr id="6" name="Text 4"/>
          <p:cNvSpPr txBox="1"/>
          <p:nvPr/>
        </p:nvSpPr>
        <p:spPr>
          <a:xfrm>
            <a:off x="2651760" y="2286000"/>
            <a:ext cx="1828800" cy="365760"/>
          </a:xfrm>
          <a:prstGeom prst="rect">
            <a:avLst/>
          </a:prstGeom>
          <a:noFill/>
          <a:ln/>
        </p:spPr>
        <p:txBody>
          <a:bodyPr wrap="square" lIns="0" tIns="0" rIns="0" bIns="0" rtlCol="0" anchor="ctr"/>
          <a:lstStyle/>
          <a:p>
            <a:pPr indent="0" marL="0">
              <a:buNone/>
            </a:pPr>
            <a:r>
              <a:rPr lang="en-US" sz="1300" dirty="0">
                <a:solidFill>
                  <a:srgbClr val="CFE3E0"/>
                </a:solidFill>
                <a:latin typeface="Calibri" pitchFamily="34" charset="0"/>
                <a:ea typeface="Calibri" pitchFamily="34" charset="-122"/>
                <a:cs typeface="Calibri" pitchFamily="34" charset="-120"/>
              </a:rPr>
              <a:t>macro F1</a:t>
            </a:r>
            <a:endParaRPr lang="en-US" sz="1300" dirty="0"/>
          </a:p>
        </p:txBody>
      </p:sp>
      <p:sp>
        <p:nvSpPr>
          <p:cNvPr id="7" name="Text 5"/>
          <p:cNvSpPr txBox="1"/>
          <p:nvPr/>
        </p:nvSpPr>
        <p:spPr>
          <a:xfrm>
            <a:off x="4663440" y="1554480"/>
            <a:ext cx="1828800" cy="731520"/>
          </a:xfrm>
          <a:prstGeom prst="rect">
            <a:avLst/>
          </a:prstGeom>
          <a:noFill/>
          <a:ln/>
        </p:spPr>
        <p:txBody>
          <a:bodyPr wrap="square" lIns="0" tIns="0" rIns="0" bIns="0" rtlCol="0" anchor="ctr"/>
          <a:lstStyle/>
          <a:p>
            <a:pPr indent="0" marL="0">
              <a:buNone/>
            </a:pPr>
            <a:r>
              <a:rPr lang="en-US" sz="3600" b="1" dirty="0">
                <a:solidFill>
                  <a:srgbClr val="E9C46A"/>
                </a:solidFill>
                <a:latin typeface="Calibri" pitchFamily="34" charset="0"/>
                <a:ea typeface="Calibri" pitchFamily="34" charset="-122"/>
                <a:cs typeface="Calibri" pitchFamily="34" charset="-120"/>
              </a:rPr>
              <a:t>97%</a:t>
            </a:r>
            <a:endParaRPr lang="en-US" sz="3600" dirty="0"/>
          </a:p>
        </p:txBody>
      </p:sp>
      <p:sp>
        <p:nvSpPr>
          <p:cNvPr id="8" name="Text 6"/>
          <p:cNvSpPr txBox="1"/>
          <p:nvPr/>
        </p:nvSpPr>
        <p:spPr>
          <a:xfrm>
            <a:off x="4663440" y="2286000"/>
            <a:ext cx="1828800" cy="365760"/>
          </a:xfrm>
          <a:prstGeom prst="rect">
            <a:avLst/>
          </a:prstGeom>
          <a:noFill/>
          <a:ln/>
        </p:spPr>
        <p:txBody>
          <a:bodyPr wrap="square" lIns="0" tIns="0" rIns="0" bIns="0" rtlCol="0" anchor="ctr"/>
          <a:lstStyle/>
          <a:p>
            <a:pPr indent="0" marL="0">
              <a:buNone/>
            </a:pPr>
            <a:r>
              <a:rPr lang="en-US" sz="1300" dirty="0">
                <a:solidFill>
                  <a:srgbClr val="CFE3E0"/>
                </a:solidFill>
                <a:latin typeface="Calibri" pitchFamily="34" charset="0"/>
                <a:ea typeface="Calibri" pitchFamily="34" charset="-122"/>
                <a:cs typeface="Calibri" pitchFamily="34" charset="-120"/>
              </a:rPr>
              <a:t>Pathological recall</a:t>
            </a:r>
            <a:endParaRPr lang="en-US" sz="1300" dirty="0"/>
          </a:p>
        </p:txBody>
      </p:sp>
      <p:sp>
        <p:nvSpPr>
          <p:cNvPr id="9" name="Text 7"/>
          <p:cNvSpPr txBox="1"/>
          <p:nvPr/>
        </p:nvSpPr>
        <p:spPr>
          <a:xfrm>
            <a:off x="6675120" y="1554480"/>
            <a:ext cx="1828800" cy="731520"/>
          </a:xfrm>
          <a:prstGeom prst="rect">
            <a:avLst/>
          </a:prstGeom>
          <a:noFill/>
          <a:ln/>
        </p:spPr>
        <p:txBody>
          <a:bodyPr wrap="square" lIns="0" tIns="0" rIns="0" bIns="0" rtlCol="0" anchor="ctr"/>
          <a:lstStyle/>
          <a:p>
            <a:pPr indent="0" marL="0">
              <a:buNone/>
            </a:pPr>
            <a:r>
              <a:rPr lang="en-US" sz="3600" b="1" dirty="0">
                <a:solidFill>
                  <a:srgbClr val="E9C46A"/>
                </a:solidFill>
                <a:latin typeface="Calibri" pitchFamily="34" charset="0"/>
                <a:ea typeface="Calibri" pitchFamily="34" charset="-122"/>
                <a:cs typeface="Calibri" pitchFamily="34" charset="-120"/>
              </a:rPr>
              <a:t>0.985</a:t>
            </a:r>
            <a:endParaRPr lang="en-US" sz="3600" dirty="0"/>
          </a:p>
        </p:txBody>
      </p:sp>
      <p:sp>
        <p:nvSpPr>
          <p:cNvPr id="10" name="Text 8"/>
          <p:cNvSpPr txBox="1"/>
          <p:nvPr/>
        </p:nvSpPr>
        <p:spPr>
          <a:xfrm>
            <a:off x="6675120" y="2286000"/>
            <a:ext cx="1828800" cy="365760"/>
          </a:xfrm>
          <a:prstGeom prst="rect">
            <a:avLst/>
          </a:prstGeom>
          <a:noFill/>
          <a:ln/>
        </p:spPr>
        <p:txBody>
          <a:bodyPr wrap="square" lIns="0" tIns="0" rIns="0" bIns="0" rtlCol="0" anchor="ctr"/>
          <a:lstStyle/>
          <a:p>
            <a:pPr indent="0" marL="0">
              <a:buNone/>
            </a:pPr>
            <a:r>
              <a:rPr lang="en-US" sz="1300" dirty="0">
                <a:solidFill>
                  <a:srgbClr val="CFE3E0"/>
                </a:solidFill>
                <a:latin typeface="Calibri" pitchFamily="34" charset="0"/>
                <a:ea typeface="Calibri" pitchFamily="34" charset="-122"/>
                <a:cs typeface="Calibri" pitchFamily="34" charset="-120"/>
              </a:rPr>
              <a:t>macro ROC-AUC</a:t>
            </a:r>
            <a:endParaRPr lang="en-US" sz="1300" dirty="0"/>
          </a:p>
        </p:txBody>
      </p:sp>
      <p:sp>
        <p:nvSpPr>
          <p:cNvPr id="11" name="Text 9"/>
          <p:cNvSpPr txBox="1"/>
          <p:nvPr/>
        </p:nvSpPr>
        <p:spPr>
          <a:xfrm>
            <a:off x="640080" y="3108960"/>
            <a:ext cx="7863840" cy="1463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tuned Random Forest on 10 clinically meaningful CTG features reliably flags Pathological recordings, with no Pathological case predicted as Normal in testing. Suspect cases remain the hardest to separate. The model is a prototype for decision support and needs local clinical validation before real use.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2026-10-01T11:12:39Z</dcterms:created>
  <dcterms:modified xsi:type="dcterms:W3CDTF">2026-10-01T11:12:39Z</dcterms:modified>
</cp:coreProperties>
</file>